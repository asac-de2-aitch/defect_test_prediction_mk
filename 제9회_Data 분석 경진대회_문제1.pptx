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63" r:id="rId2"/>
  </p:sldMasterIdLst>
  <p:notesMasterIdLst>
    <p:notesMasterId r:id="rId8"/>
  </p:notesMasterIdLst>
  <p:sldIdLst>
    <p:sldId id="1199" r:id="rId3"/>
    <p:sldId id="1194" r:id="rId4"/>
    <p:sldId id="1195" r:id="rId5"/>
    <p:sldId id="1196" r:id="rId6"/>
    <p:sldId id="1197" r:id="rId7"/>
  </p:sldIdLst>
  <p:sldSz cx="9906000" cy="6858000" type="A4"/>
  <p:notesSz cx="67945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26">
          <p15:clr>
            <a:srgbClr val="A4A3A4"/>
          </p15:clr>
        </p15:guide>
        <p15:guide id="3" orient="horz" pos="1253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4021" userDrawn="1">
          <p15:clr>
            <a:srgbClr val="A4A3A4"/>
          </p15:clr>
        </p15:guide>
        <p15:guide id="7" pos="3120">
          <p15:clr>
            <a:srgbClr val="A4A3A4"/>
          </p15:clr>
        </p15:guide>
        <p15:guide id="8" pos="3211">
          <p15:clr>
            <a:srgbClr val="A4A3A4"/>
          </p15:clr>
        </p15:guide>
        <p15:guide id="9" pos="3029">
          <p15:clr>
            <a:srgbClr val="A4A3A4"/>
          </p15:clr>
        </p15:guide>
        <p15:guide id="10" pos="172">
          <p15:clr>
            <a:srgbClr val="A4A3A4"/>
          </p15:clr>
        </p15:guide>
        <p15:guide id="11" pos="6068">
          <p15:clr>
            <a:srgbClr val="A4A3A4"/>
          </p15:clr>
        </p15:guide>
        <p15:guide id="12" orient="horz" pos="1842" userDrawn="1">
          <p15:clr>
            <a:srgbClr val="A4A3A4"/>
          </p15:clr>
        </p15:guide>
        <p15:guide id="13" orient="horz" pos="36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임두리(LIM DOORI) Digital Skills" initials="임DDS" lastIdx="2" clrIdx="0">
    <p:extLst>
      <p:ext uri="{19B8F6BF-5375-455C-9EA6-DF929625EA0E}">
        <p15:presenceInfo xmlns:p15="http://schemas.microsoft.com/office/powerpoint/2012/main" userId="S-1-5-21-3379710370-542142115-1094973288-1917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  <a:srgbClr val="00339A"/>
    <a:srgbClr val="9933FF"/>
    <a:srgbClr val="FF7C80"/>
    <a:srgbClr val="FF6600"/>
    <a:srgbClr val="5B9BD5"/>
    <a:srgbClr val="0000CC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5394" autoAdjust="0"/>
  </p:normalViewPr>
  <p:slideViewPr>
    <p:cSldViewPr showGuides="1">
      <p:cViewPr varScale="1">
        <p:scale>
          <a:sx n="110" d="100"/>
          <a:sy n="110" d="100"/>
        </p:scale>
        <p:origin x="1110" y="114"/>
      </p:cViewPr>
      <p:guideLst>
        <p:guide orient="horz" pos="2160"/>
        <p:guide orient="horz" pos="1026"/>
        <p:guide orient="horz" pos="1253"/>
        <p:guide orient="horz" pos="346"/>
        <p:guide orient="horz" pos="4021"/>
        <p:guide pos="3120"/>
        <p:guide pos="3211"/>
        <p:guide pos="3029"/>
        <p:guide pos="172"/>
        <p:guide pos="6068"/>
        <p:guide orient="horz" pos="1842"/>
        <p:guide orient="horz" pos="365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4283" cy="495300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647" y="1"/>
            <a:ext cx="2944283" cy="495300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r">
              <a:defRPr sz="1200"/>
            </a:lvl1pPr>
          </a:lstStyle>
          <a:p>
            <a:fld id="{BB0758DF-96A3-4AF5-B2E0-2238EB689F79}" type="datetimeFigureOut">
              <a:rPr lang="ko-KR" altLang="en-US" smtClean="0"/>
              <a:pPr/>
              <a:t>2023-11-02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2950"/>
            <a:ext cx="536575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4" tIns="45647" rIns="91294" bIns="4564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294" tIns="45647" rIns="91294" bIns="45647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08982"/>
            <a:ext cx="2944283" cy="495300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647" y="9408982"/>
            <a:ext cx="2944283" cy="495300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r">
              <a:defRPr sz="1200"/>
            </a:lvl1pPr>
          </a:lstStyle>
          <a:p>
            <a:fld id="{EB95A0B9-4353-4B46-806A-1282854279B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35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S0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175"/>
            <a:ext cx="9906000" cy="68643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00" y="4149100"/>
            <a:ext cx="7201000" cy="1440200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49B-F8D4-4437-8915-D085C08613B2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754" y="438032"/>
            <a:ext cx="2672020" cy="510235"/>
          </a:xfrm>
          <a:prstGeom prst="rect">
            <a:avLst/>
          </a:prstGeom>
        </p:spPr>
      </p:pic>
      <p:cxnSp>
        <p:nvCxnSpPr>
          <p:cNvPr id="23" name="직선 연결선 22"/>
          <p:cNvCxnSpPr/>
          <p:nvPr userDrawn="1"/>
        </p:nvCxnSpPr>
        <p:spPr>
          <a:xfrm>
            <a:off x="632400" y="3429001"/>
            <a:ext cx="86412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2400" y="1988801"/>
            <a:ext cx="8641200" cy="1440200"/>
          </a:xfrm>
        </p:spPr>
        <p:txBody>
          <a:bodyPr tIns="90000" bIns="90000" anchor="b">
            <a:normAutofit/>
          </a:bodyPr>
          <a:lstStyle>
            <a:lvl1pPr algn="ctr">
              <a:lnSpc>
                <a:spcPct val="125000"/>
              </a:lnSpc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2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273050" y="549275"/>
            <a:ext cx="9359900" cy="1079499"/>
          </a:xfrm>
        </p:spPr>
        <p:txBody>
          <a:bodyPr anchor="ctr">
            <a:no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</a:t>
            </a:r>
            <a:endParaRPr lang="en-US" altLang="ko-KR" dirty="0"/>
          </a:p>
        </p:txBody>
      </p:sp>
      <p:sp>
        <p:nvSpPr>
          <p:cNvPr id="17" name="텍스트 개체 틀 2"/>
          <p:cNvSpPr>
            <a:spLocks noGrp="1"/>
          </p:cNvSpPr>
          <p:nvPr>
            <p:ph type="body" idx="14"/>
          </p:nvPr>
        </p:nvSpPr>
        <p:spPr>
          <a:xfrm>
            <a:off x="272350" y="1628800"/>
            <a:ext cx="9361300" cy="360000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  <p:sp>
        <p:nvSpPr>
          <p:cNvPr id="20" name="날짜 개체 틀 1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03CDD6-A8CF-4769-9B1A-C3122B50A4C6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4" name="텍스트 개체 틀 15"/>
          <p:cNvSpPr>
            <a:spLocks noGrp="1"/>
          </p:cNvSpPr>
          <p:nvPr>
            <p:ph type="body" sz="quarter" idx="19" hasCustomPrompt="1"/>
          </p:nvPr>
        </p:nvSpPr>
        <p:spPr>
          <a:xfrm>
            <a:off x="273050" y="6309400"/>
            <a:ext cx="9360600" cy="548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FontTx/>
              <a:buNone/>
              <a:defRPr sz="1000" b="0" baseline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/>
              <a:t>셋째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427CC-BC04-438B-85F4-D2D45A40807F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273050" y="549275"/>
            <a:ext cx="9359900" cy="1079499"/>
          </a:xfrm>
        </p:spPr>
        <p:txBody>
          <a:bodyPr anchor="ctr">
            <a:no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</a:t>
            </a:r>
          </a:p>
        </p:txBody>
      </p:sp>
      <p:sp>
        <p:nvSpPr>
          <p:cNvPr id="17" name="텍스트 개체 틀 2"/>
          <p:cNvSpPr>
            <a:spLocks noGrp="1"/>
          </p:cNvSpPr>
          <p:nvPr>
            <p:ph type="body" idx="14"/>
          </p:nvPr>
        </p:nvSpPr>
        <p:spPr>
          <a:xfrm>
            <a:off x="272350" y="1628800"/>
            <a:ext cx="9361300" cy="360000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72350" y="1988800"/>
            <a:ext cx="9361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5"/>
          <p:cNvSpPr>
            <a:spLocks noGrp="1"/>
          </p:cNvSpPr>
          <p:nvPr>
            <p:ph type="body" sz="quarter" idx="19" hasCustomPrompt="1"/>
          </p:nvPr>
        </p:nvSpPr>
        <p:spPr>
          <a:xfrm>
            <a:off x="273050" y="6309400"/>
            <a:ext cx="9360000" cy="548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FontTx/>
              <a:buNone/>
              <a:defRPr sz="1000" b="0" baseline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latinLnBrk="0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72350" y="1628750"/>
            <a:ext cx="4536630" cy="4680650"/>
          </a:xfrm>
        </p:spPr>
        <p:txBody>
          <a:bodyPr/>
          <a:lstStyle>
            <a:lvl1pPr latinLnBrk="0">
              <a:defRPr sz="1400"/>
            </a:lvl1pPr>
            <a:lvl2pPr latinLnBrk="0">
              <a:defRPr sz="1200"/>
            </a:lvl2pPr>
            <a:lvl3pPr>
              <a:defRPr sz="1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sz="1200" dirty="0"/>
              <a:t>셋째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97020" y="1628750"/>
            <a:ext cx="4536630" cy="4680650"/>
          </a:xfrm>
        </p:spPr>
        <p:txBody>
          <a:bodyPr/>
          <a:lstStyle>
            <a:lvl1pPr latinLnBrk="0">
              <a:defRPr sz="1400"/>
            </a:lvl1pPr>
            <a:lvl2pPr latinLnBrk="0">
              <a:defRPr sz="1200"/>
            </a:lvl2pPr>
            <a:lvl3pPr>
              <a:defRPr sz="1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8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273050" y="549275"/>
            <a:ext cx="9359900" cy="1079499"/>
          </a:xfrm>
        </p:spPr>
        <p:txBody>
          <a:bodyPr anchor="ctr">
            <a:noAutofit/>
          </a:bodyPr>
          <a:lstStyle>
            <a:lvl1pPr marL="0" indent="0" latinLnBrk="0">
              <a:lnSpc>
                <a:spcPct val="125000"/>
              </a:lnSpc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</a:t>
            </a:r>
          </a:p>
        </p:txBody>
      </p:sp>
      <p:sp>
        <p:nvSpPr>
          <p:cNvPr id="9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rmAutofit/>
          </a:bodyPr>
          <a:lstStyle>
            <a:lvl1pPr algn="r" latinLnBrk="0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6E7D2A5-D222-4241-B17C-CF5B4BEE4BF0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19" hasCustomPrompt="1"/>
          </p:nvPr>
        </p:nvSpPr>
        <p:spPr>
          <a:xfrm>
            <a:off x="273050" y="6309400"/>
            <a:ext cx="4535488" cy="548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FontTx/>
              <a:buNone/>
              <a:defRPr sz="1000" b="0" baseline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21" name="텍스트 개체 틀 18"/>
          <p:cNvSpPr>
            <a:spLocks noGrp="1"/>
          </p:cNvSpPr>
          <p:nvPr>
            <p:ph type="body" sz="quarter" idx="20" hasCustomPrompt="1"/>
          </p:nvPr>
        </p:nvSpPr>
        <p:spPr>
          <a:xfrm>
            <a:off x="5097463" y="6309400"/>
            <a:ext cx="4535487" cy="548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FontTx/>
              <a:buNone/>
              <a:defRPr sz="1000" b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2350" y="1628800"/>
            <a:ext cx="4536630" cy="360000"/>
          </a:xfrm>
        </p:spPr>
        <p:txBody>
          <a:bodyPr anchor="b">
            <a:noAutofit/>
          </a:bodyPr>
          <a:lstStyle>
            <a:lvl1pPr marL="0" indent="0" algn="ctr" latinLnBrk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72350" y="1988800"/>
            <a:ext cx="4536630" cy="4320600"/>
          </a:xfrm>
        </p:spPr>
        <p:txBody>
          <a:bodyPr/>
          <a:lstStyle>
            <a:lvl1pPr latinLnBrk="0">
              <a:defRPr sz="1400"/>
            </a:lvl1pPr>
            <a:lvl2pPr latinLnBrk="0">
              <a:defRPr sz="12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97020" y="1628800"/>
            <a:ext cx="4536629" cy="360000"/>
          </a:xfrm>
        </p:spPr>
        <p:txBody>
          <a:bodyPr anchor="b">
            <a:noAutofit/>
          </a:bodyPr>
          <a:lstStyle>
            <a:lvl1pPr marL="0" indent="0" algn="ctr" latinLnBrk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97020" y="1988800"/>
            <a:ext cx="4536629" cy="4320600"/>
          </a:xfrm>
        </p:spPr>
        <p:txBody>
          <a:bodyPr/>
          <a:lstStyle>
            <a:lvl1pPr latinLnBrk="0">
              <a:defRPr sz="1400"/>
            </a:lvl1pPr>
            <a:lvl2pPr latinLnBrk="0">
              <a:defRPr sz="12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65BD-0C6F-4739-A139-3B0FA18E90A2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273050" y="549275"/>
            <a:ext cx="9359900" cy="1079499"/>
          </a:xfrm>
        </p:spPr>
        <p:txBody>
          <a:bodyPr anchor="ctr">
            <a:noAutofit/>
          </a:bodyPr>
          <a:lstStyle>
            <a:lvl1pPr marL="0" indent="0" latinLnBrk="0">
              <a:lnSpc>
                <a:spcPct val="125000"/>
              </a:lnSpc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</a:t>
            </a:r>
          </a:p>
        </p:txBody>
      </p:sp>
      <p:sp>
        <p:nvSpPr>
          <p:cNvPr id="17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rm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  <p:sp>
        <p:nvSpPr>
          <p:cNvPr id="18" name="텍스트 개체 틀 15"/>
          <p:cNvSpPr>
            <a:spLocks noGrp="1"/>
          </p:cNvSpPr>
          <p:nvPr>
            <p:ph type="body" sz="quarter" idx="19" hasCustomPrompt="1"/>
          </p:nvPr>
        </p:nvSpPr>
        <p:spPr>
          <a:xfrm>
            <a:off x="273050" y="6309400"/>
            <a:ext cx="4535488" cy="548600"/>
          </a:xfrm>
        </p:spPr>
        <p:txBody>
          <a:bodyPr>
            <a:noAutofit/>
          </a:bodyPr>
          <a:lstStyle>
            <a:lvl1pPr latinLnBrk="0">
              <a:lnSpc>
                <a:spcPct val="100000"/>
              </a:lnSpc>
              <a:buFontTx/>
              <a:buNone/>
              <a:defRPr sz="1000" b="0" baseline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20" hasCustomPrompt="1"/>
          </p:nvPr>
        </p:nvSpPr>
        <p:spPr>
          <a:xfrm>
            <a:off x="5097463" y="6309400"/>
            <a:ext cx="4535487" cy="548600"/>
          </a:xfrm>
        </p:spPr>
        <p:txBody>
          <a:bodyPr>
            <a:noAutofit/>
          </a:bodyPr>
          <a:lstStyle>
            <a:lvl1pPr latinLnBrk="0">
              <a:lnSpc>
                <a:spcPct val="100000"/>
              </a:lnSpc>
              <a:buFontTx/>
              <a:buNone/>
              <a:defRPr sz="1000" b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2350" y="1628800"/>
            <a:ext cx="4536630" cy="360000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72350" y="1988800"/>
            <a:ext cx="4536630" cy="432060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97020" y="1628800"/>
            <a:ext cx="4536629" cy="360000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97020" y="1988800"/>
            <a:ext cx="4536629" cy="432060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8F56-4ED6-40D6-8B0C-C08D17D6F238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273050" y="549275"/>
            <a:ext cx="9359900" cy="1079499"/>
          </a:xfrm>
        </p:spPr>
        <p:txBody>
          <a:bodyPr anchor="ctr">
            <a:no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</a:t>
            </a:r>
          </a:p>
        </p:txBody>
      </p:sp>
      <p:sp>
        <p:nvSpPr>
          <p:cNvPr id="17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rm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72350" y="1988800"/>
            <a:ext cx="453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5097020" y="1988800"/>
            <a:ext cx="453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5"/>
          <p:cNvSpPr>
            <a:spLocks noGrp="1"/>
          </p:cNvSpPr>
          <p:nvPr>
            <p:ph type="body" sz="quarter" idx="19" hasCustomPrompt="1"/>
          </p:nvPr>
        </p:nvSpPr>
        <p:spPr>
          <a:xfrm>
            <a:off x="273050" y="6309400"/>
            <a:ext cx="4535488" cy="548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FontTx/>
              <a:buNone/>
              <a:defRPr sz="1000" b="0" baseline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20" hasCustomPrompt="1"/>
          </p:nvPr>
        </p:nvSpPr>
        <p:spPr>
          <a:xfrm>
            <a:off x="5097463" y="6309400"/>
            <a:ext cx="4535487" cy="548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FontTx/>
              <a:buNone/>
              <a:defRPr sz="1000" b="0"/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11D9-9C8E-47DB-B727-81F0B29FF444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rm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4397-AC18-40C7-8698-52017EC64B45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개체 틀 18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1"/>
            <a:ext cx="4679950" cy="548600"/>
          </a:xfrm>
        </p:spPr>
        <p:txBody>
          <a:bodyPr anchor="b">
            <a:norm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 dirty="0"/>
              <a:t>부제목을 입력하십시오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sz="quarter" idx="16"/>
          </p:nvPr>
        </p:nvSpPr>
        <p:spPr>
          <a:xfrm>
            <a:off x="273050" y="548600"/>
            <a:ext cx="9359900" cy="5760126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272350" y="6310800"/>
            <a:ext cx="9360000" cy="547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 b="0"/>
            </a:lvl1pPr>
          </a:lstStyle>
          <a:p>
            <a:pPr lvl="0"/>
            <a:r>
              <a:rPr lang="en-US" altLang="ko-KR" dirty="0"/>
              <a:t>Source: 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063D-6473-484D-8FD5-2A1B3C85C61E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7"/>
          <p:cNvSpPr>
            <a:spLocks noChangeArrowheads="1"/>
          </p:cNvSpPr>
          <p:nvPr userDrawn="1"/>
        </p:nvSpPr>
        <p:spPr bwMode="auto">
          <a:xfrm>
            <a:off x="561000" y="496888"/>
            <a:ext cx="8784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 dirty="0">
              <a:latin typeface="Tahoma" pitchFamily="34" charset="0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78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S0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11510"/>
            <a:ext cx="9905998" cy="684649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7" t="35069" r="11759" b="45023"/>
          <a:stretch/>
        </p:blipFill>
        <p:spPr>
          <a:xfrm>
            <a:off x="632400" y="438033"/>
            <a:ext cx="2894688" cy="51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44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0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11509"/>
            <a:ext cx="9905998" cy="684649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7" t="35069" r="11759" b="45023"/>
          <a:stretch/>
        </p:blipFill>
        <p:spPr>
          <a:xfrm>
            <a:off x="344488" y="107797"/>
            <a:ext cx="2672020" cy="51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7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72350" y="0"/>
            <a:ext cx="7561050" cy="54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2350" y="1988800"/>
            <a:ext cx="9361300" cy="432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-15690" y="6449870"/>
            <a:ext cx="2311400" cy="36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D9DF7-2645-42A2-B952-D15E53656B0B}" type="datetime1">
              <a:rPr lang="ko-KR" altLang="en-US" smtClean="0"/>
              <a:t>2023-11-02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48345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10290" y="644834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2F7BE-0906-4E5A-BCA4-8C3BAEE5F3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60" r:id="rId6"/>
    <p:sldLayoutId id="2147483654" r:id="rId7"/>
    <p:sldLayoutId id="2147483662" r:id="rId8"/>
    <p:sldLayoutId id="2147483655" r:id="rId9"/>
    <p:sldLayoutId id="2147483665" r:id="rId10"/>
    <p:sldLayoutId id="2147483666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5000"/>
        </a:lnSpc>
        <a:spcBef>
          <a:spcPct val="20000"/>
        </a:spcBef>
        <a:buFont typeface="맑은 고딕" pitchFamily="50" charset="-127"/>
        <a:buChar char="○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185738" algn="l" defTabSz="914400" rtl="0" eaLnBrk="1" latinLnBrk="0" hangingPunct="1">
        <a:lnSpc>
          <a:spcPct val="125000"/>
        </a:lnSpc>
        <a:spcBef>
          <a:spcPct val="20000"/>
        </a:spcBef>
        <a:buFont typeface="맑은 고딕" pitchFamily="50" charset="-127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177800" algn="l" defTabSz="914400" rtl="0" eaLnBrk="1" latinLnBrk="1" hangingPunct="1">
        <a:lnSpc>
          <a:spcPct val="125000"/>
        </a:lnSpc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7" name="Picture 131" descr="http://owa.hynix.com/ECP2007-Temp/A000/Mail/Inline/wonkyoo.song@hynix.com/40977.6241845486/twe3719.tmp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73480" y="6442231"/>
            <a:ext cx="594684" cy="388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직선 연결선 9"/>
          <p:cNvCxnSpPr/>
          <p:nvPr userDrawn="1"/>
        </p:nvCxnSpPr>
        <p:spPr>
          <a:xfrm>
            <a:off x="254883" y="760517"/>
            <a:ext cx="9360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17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964754" y="2492830"/>
            <a:ext cx="3708847" cy="1152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/>
              <a:t>문제 </a:t>
            </a:r>
            <a:r>
              <a:rPr lang="en-US" altLang="ko-KR" sz="3200"/>
              <a:t>1. </a:t>
            </a:r>
            <a:r>
              <a:rPr lang="ko-KR" altLang="en-US" sz="3200"/>
              <a:t>제조</a:t>
            </a:r>
            <a:r>
              <a:rPr lang="en-US" altLang="ko-KR" sz="3200"/>
              <a:t>/</a:t>
            </a:r>
            <a:r>
              <a:rPr lang="ko-KR" altLang="en-US" sz="3200"/>
              <a:t>기술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964754" y="3429000"/>
            <a:ext cx="7976492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73601" y="3491728"/>
            <a:ext cx="436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“FDC Trace </a:t>
            </a:r>
            <a:r>
              <a:rPr lang="ko-KR" altLang="en-US" b="1"/>
              <a:t>데이터를 이용한 불량 예측</a:t>
            </a:r>
            <a:r>
              <a:rPr lang="en-US" altLang="ko-KR" b="1"/>
              <a:t>”</a:t>
            </a:r>
            <a:endParaRPr lang="ko-KR" altLang="en-US" b="1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708936" y="5229250"/>
            <a:ext cx="2232310" cy="576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33059" rtl="0" eaLnBrk="1" latinLnBrk="0" hangingPunct="1">
              <a:spcBef>
                <a:spcPct val="0"/>
              </a:spcBef>
              <a:buNone/>
              <a:defRPr sz="138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600">
                <a:latin typeface="Trebuchet MS" panose="020B0603020202020204" pitchFamily="34" charset="0"/>
              </a:rPr>
              <a:t>M&amp;T </a:t>
            </a:r>
            <a:r>
              <a:rPr lang="ko-KR" altLang="en-US" sz="1600">
                <a:latin typeface="Trebuchet MS" panose="020B0603020202020204" pitchFamily="34" charset="0"/>
              </a:rPr>
              <a:t>기술혁신</a:t>
            </a:r>
            <a:br>
              <a:rPr lang="en-US" altLang="ko-KR" sz="1400">
                <a:latin typeface="Trebuchet MS" panose="020B0603020202020204" pitchFamily="34" charset="0"/>
              </a:rPr>
            </a:br>
            <a:r>
              <a:rPr lang="ko-KR" altLang="en-US" sz="1400">
                <a:latin typeface="Trebuchet MS" panose="020B0603020202020204" pitchFamily="34" charset="0"/>
              </a:rPr>
              <a:t>제조</a:t>
            </a:r>
            <a:r>
              <a:rPr lang="en-US" altLang="ko-KR" sz="1400">
                <a:latin typeface="Trebuchet MS" panose="020B0603020202020204" pitchFamily="34" charset="0"/>
              </a:rPr>
              <a:t>/</a:t>
            </a:r>
            <a:r>
              <a:rPr lang="ko-KR" altLang="en-US" sz="1400">
                <a:latin typeface="Trebuchet MS" panose="020B0603020202020204" pitchFamily="34" charset="0"/>
              </a:rPr>
              <a:t>기술</a:t>
            </a:r>
            <a:r>
              <a:rPr lang="en-US" altLang="ko-KR" sz="1400">
                <a:latin typeface="Trebuchet MS" panose="020B0603020202020204" pitchFamily="34" charset="0"/>
              </a:rPr>
              <a:t> Data Science</a:t>
            </a:r>
            <a:endParaRPr lang="ko-KR" altLang="en-US" sz="1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1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모서리가 둥근 직사각형 104"/>
          <p:cNvSpPr/>
          <p:nvPr/>
        </p:nvSpPr>
        <p:spPr>
          <a:xfrm>
            <a:off x="475668" y="4941210"/>
            <a:ext cx="4157890" cy="128824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475667" y="3292912"/>
            <a:ext cx="2965123" cy="128824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0" name="Rectangle 1035"/>
          <p:cNvSpPr txBox="1">
            <a:spLocks noChangeArrowheads="1"/>
          </p:cNvSpPr>
          <p:nvPr/>
        </p:nvSpPr>
        <p:spPr bwMode="auto">
          <a:xfrm>
            <a:off x="506413" y="156622"/>
            <a:ext cx="7900987" cy="35137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  <a:defRPr/>
            </a:pPr>
            <a:r>
              <a:rPr lang="en-US" altLang="ko-KR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1. </a:t>
            </a:r>
            <a:r>
              <a:rPr lang="ko-KR" altLang="en-US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개요</a:t>
            </a:r>
            <a:endParaRPr lang="ko-KR" altLang="en-US" sz="1700" b="1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ontent Placeholder 19"/>
          <p:cNvSpPr txBox="1">
            <a:spLocks/>
          </p:cNvSpPr>
          <p:nvPr/>
        </p:nvSpPr>
        <p:spPr>
          <a:xfrm>
            <a:off x="41283" y="509599"/>
            <a:ext cx="9906000" cy="787107"/>
          </a:xfrm>
          <a:prstGeom prst="rect">
            <a:avLst/>
          </a:prstGeom>
        </p:spPr>
        <p:txBody>
          <a:bodyPr anchor="ctr"/>
          <a:lstStyle>
            <a:lvl1pPr marL="316529" indent="-316529" algn="l" defTabSz="844078" rtl="0" eaLnBrk="1" latinLnBrk="0" hangingPunct="1">
              <a:spcBef>
                <a:spcPct val="20000"/>
              </a:spcBef>
              <a:buFont typeface="맑은 고딕" pitchFamily="50" charset="-127"/>
              <a:buChar char="○"/>
              <a:defRPr sz="1292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3" indent="-263775" algn="l" defTabSz="844078" rtl="0" eaLnBrk="1" latinLnBrk="0" hangingPunct="1">
              <a:spcBef>
                <a:spcPct val="20000"/>
              </a:spcBef>
              <a:buFont typeface="맑은 고딕" pitchFamily="50" charset="-127"/>
              <a:buChar char="­"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97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36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75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13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53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291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30" indent="-211020" algn="l" defTabSz="84407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500" dirty="0">
                <a:solidFill>
                  <a:prstClr val="black"/>
                </a:solidFill>
                <a:latin typeface="Trebuchet MS" panose="020B0603020202020204" pitchFamily="34" charset="0"/>
              </a:rPr>
              <a:t>Fab-Out </a:t>
            </a:r>
            <a:r>
              <a:rPr lang="ko-KR" altLang="en-US" sz="1500" dirty="0">
                <a:solidFill>
                  <a:prstClr val="black"/>
                </a:solidFill>
                <a:latin typeface="Trebuchet MS" panose="020B0603020202020204" pitchFamily="34" charset="0"/>
              </a:rPr>
              <a:t>후 </a:t>
            </a:r>
            <a:r>
              <a:rPr lang="en-US" altLang="ko-KR" sz="1500" dirty="0">
                <a:solidFill>
                  <a:prstClr val="black"/>
                </a:solidFill>
                <a:latin typeface="Trebuchet MS" panose="020B0603020202020204" pitchFamily="34" charset="0"/>
              </a:rPr>
              <a:t>Defect</a:t>
            </a:r>
            <a:r>
              <a:rPr lang="ko-KR" altLang="en-US" sz="1500" dirty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Trebuchet MS" panose="020B0603020202020204" pitchFamily="34" charset="0"/>
              </a:rPr>
              <a:t>Test </a:t>
            </a:r>
            <a:r>
              <a:rPr lang="ko-KR" altLang="en-US" sz="1500" dirty="0">
                <a:solidFill>
                  <a:prstClr val="black"/>
                </a:solidFill>
                <a:latin typeface="Trebuchet MS" panose="020B0603020202020204" pitchFamily="34" charset="0"/>
              </a:rPr>
              <a:t>대기로 인한 업무효율 저하를 개선하기 위하여</a:t>
            </a:r>
            <a:endParaRPr lang="en-US" altLang="ko-KR" sz="1500" dirty="0">
              <a:solidFill>
                <a:prstClr val="black"/>
              </a:solidFill>
              <a:latin typeface="Trebuchet MS" panose="020B0603020202020204" pitchFamily="34" charset="0"/>
            </a:endParaRPr>
          </a:p>
          <a:p>
            <a:pPr marL="0" indent="0" algn="ctr">
              <a:buNone/>
            </a:pPr>
            <a:r>
              <a:rPr lang="en-US" altLang="ko-KR" sz="1500" dirty="0">
                <a:solidFill>
                  <a:prstClr val="black"/>
                </a:solidFill>
                <a:latin typeface="Trebuchet MS" panose="020B0603020202020204" pitchFamily="34" charset="0"/>
              </a:rPr>
              <a:t>FDC Trace </a:t>
            </a:r>
            <a:r>
              <a:rPr lang="ko-KR" altLang="en-US" sz="1500" dirty="0">
                <a:solidFill>
                  <a:prstClr val="black"/>
                </a:solidFill>
                <a:latin typeface="Trebuchet MS" panose="020B0603020202020204" pitchFamily="34" charset="0"/>
              </a:rPr>
              <a:t>데이터를 이용하여 계측 전 </a:t>
            </a:r>
            <a:r>
              <a:rPr lang="ko-KR" altLang="en-US" sz="1500" dirty="0" err="1">
                <a:solidFill>
                  <a:prstClr val="black"/>
                </a:solidFill>
                <a:latin typeface="Trebuchet MS" panose="020B0603020202020204" pitchFamily="34" charset="0"/>
              </a:rPr>
              <a:t>불량발생</a:t>
            </a:r>
            <a:r>
              <a:rPr lang="ko-KR" altLang="en-US" sz="1500" dirty="0">
                <a:solidFill>
                  <a:prstClr val="black"/>
                </a:solidFill>
                <a:latin typeface="Trebuchet MS" panose="020B0603020202020204" pitchFamily="34" charset="0"/>
              </a:rPr>
              <a:t> 예측 모형 제시</a:t>
            </a:r>
            <a:endParaRPr lang="en-US" altLang="ko-KR" sz="15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5667" y="1951323"/>
            <a:ext cx="4254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Trebuchet MS" panose="020B0603020202020204" pitchFamily="34" charset="0"/>
              </a:rPr>
              <a:t>○</a:t>
            </a:r>
            <a:r>
              <a:rPr lang="en-US" altLang="ko-KR" sz="1200" dirty="0">
                <a:latin typeface="Trebuchet MS" panose="020B0603020202020204" pitchFamily="34" charset="0"/>
              </a:rPr>
              <a:t> WF</a:t>
            </a:r>
            <a:r>
              <a:rPr lang="ko-KR" altLang="en-US" sz="1200" dirty="0">
                <a:latin typeface="Trebuchet MS" panose="020B0603020202020204" pitchFamily="34" charset="0"/>
              </a:rPr>
              <a:t>의 </a:t>
            </a:r>
            <a:r>
              <a:rPr lang="ko-KR" altLang="en-US" sz="1200" dirty="0" err="1">
                <a:latin typeface="Trebuchet MS" panose="020B0603020202020204" pitchFamily="34" charset="0"/>
              </a:rPr>
              <a:t>불량발생</a:t>
            </a:r>
            <a:r>
              <a:rPr lang="ko-KR" altLang="en-US" sz="1200" dirty="0">
                <a:latin typeface="Trebuchet MS" panose="020B0603020202020204" pitchFamily="34" charset="0"/>
              </a:rPr>
              <a:t> 여부를 파악하는 것이 중요하나 </a:t>
            </a:r>
            <a:r>
              <a:rPr lang="en-US" altLang="ko-KR" sz="1200" dirty="0">
                <a:latin typeface="Trebuchet MS" panose="020B0603020202020204" pitchFamily="34" charset="0"/>
              </a:rPr>
              <a:t>Fab-Out </a:t>
            </a:r>
            <a:r>
              <a:rPr lang="ko-KR" altLang="en-US" sz="1200" dirty="0">
                <a:latin typeface="Trebuchet MS" panose="020B0603020202020204" pitchFamily="34" charset="0"/>
              </a:rPr>
              <a:t>후 </a:t>
            </a:r>
            <a:r>
              <a:rPr lang="en-US" altLang="ko-KR" sz="1200" dirty="0">
                <a:latin typeface="Trebuchet MS" panose="020B0603020202020204" pitchFamily="34" charset="0"/>
              </a:rPr>
              <a:t>Defect</a:t>
            </a:r>
            <a:r>
              <a:rPr lang="ko-KR" altLang="en-US" sz="1200" dirty="0">
                <a:latin typeface="Trebuchet MS" panose="020B0603020202020204" pitchFamily="34" charset="0"/>
              </a:rPr>
              <a:t> </a:t>
            </a:r>
            <a:r>
              <a:rPr lang="en-US" altLang="ko-KR" sz="1200" dirty="0">
                <a:latin typeface="Trebuchet MS" panose="020B0603020202020204" pitchFamily="34" charset="0"/>
              </a:rPr>
              <a:t>Test </a:t>
            </a:r>
            <a:r>
              <a:rPr lang="ko-KR" altLang="en-US" sz="1200" dirty="0">
                <a:latin typeface="Trebuchet MS" panose="020B0603020202020204" pitchFamily="34" charset="0"/>
              </a:rPr>
              <a:t>대기까지 소요시간 장기화로 인한 </a:t>
            </a:r>
            <a:r>
              <a:rPr lang="ko-KR" altLang="en-US" sz="1200" b="1" u="sng" dirty="0">
                <a:latin typeface="Trebuchet MS" panose="020B0603020202020204" pitchFamily="34" charset="0"/>
              </a:rPr>
              <a:t>업무효율 저하</a:t>
            </a:r>
            <a:endParaRPr lang="en-US" altLang="ko-KR" sz="1200" b="1" u="sng" dirty="0">
              <a:latin typeface="Trebuchet MS" panose="020B0603020202020204" pitchFamily="34" charset="0"/>
            </a:endParaRPr>
          </a:p>
          <a:p>
            <a:endParaRPr lang="en-US" altLang="ko-KR" sz="1200" b="1" u="sng" dirty="0">
              <a:latin typeface="Trebuchet MS" panose="020B0603020202020204" pitchFamily="34" charset="0"/>
            </a:endParaRPr>
          </a:p>
          <a:p>
            <a:r>
              <a:rPr lang="ko-KR" altLang="en-US" sz="1200" dirty="0">
                <a:latin typeface="Trebuchet MS" panose="020B0603020202020204" pitchFamily="34" charset="0"/>
              </a:rPr>
              <a:t>○ </a:t>
            </a:r>
            <a:r>
              <a:rPr lang="en-US" altLang="ko-KR" sz="1200" dirty="0">
                <a:latin typeface="Trebuchet MS" panose="020B0603020202020204" pitchFamily="34" charset="0"/>
              </a:rPr>
              <a:t>Fab-Out </a:t>
            </a:r>
            <a:r>
              <a:rPr lang="ko-KR" altLang="en-US" sz="1200" dirty="0">
                <a:latin typeface="Trebuchet MS" panose="020B0603020202020204" pitchFamily="34" charset="0"/>
              </a:rPr>
              <a:t>이전 장비에서 초단위로 측정되는 센서 데이터인 </a:t>
            </a:r>
            <a:r>
              <a:rPr lang="en-US" altLang="ko-KR" sz="1200" dirty="0">
                <a:latin typeface="Trebuchet MS" panose="020B0603020202020204" pitchFamily="34" charset="0"/>
              </a:rPr>
              <a:t>FDC Trace</a:t>
            </a:r>
            <a:r>
              <a:rPr lang="ko-KR" altLang="en-US" sz="1200" dirty="0">
                <a:latin typeface="Trebuchet MS" panose="020B0603020202020204" pitchFamily="34" charset="0"/>
              </a:rPr>
              <a:t>로 </a:t>
            </a:r>
            <a:r>
              <a:rPr lang="en-US" altLang="ko-KR" sz="1200" dirty="0">
                <a:latin typeface="Trebuchet MS" panose="020B0603020202020204" pitchFamily="34" charset="0"/>
              </a:rPr>
              <a:t>Defect</a:t>
            </a:r>
            <a:r>
              <a:rPr lang="ko-KR" altLang="en-US" sz="1200" dirty="0">
                <a:latin typeface="Trebuchet MS" panose="020B0603020202020204" pitchFamily="34" charset="0"/>
              </a:rPr>
              <a:t> </a:t>
            </a:r>
            <a:r>
              <a:rPr lang="en-US" altLang="ko-KR" sz="1200" dirty="0">
                <a:latin typeface="Trebuchet MS" panose="020B0603020202020204" pitchFamily="34" charset="0"/>
              </a:rPr>
              <a:t>Test</a:t>
            </a:r>
            <a:r>
              <a:rPr lang="ko-KR" altLang="en-US" sz="1200" dirty="0">
                <a:latin typeface="Trebuchet MS" panose="020B0603020202020204" pitchFamily="34" charset="0"/>
              </a:rPr>
              <a:t>를 예측하고자 함</a:t>
            </a:r>
            <a:endParaRPr lang="en-US" altLang="ko-KR" sz="1200" b="1" dirty="0">
              <a:latin typeface="Trebuchet MS" panose="020B0603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218854" y="1937881"/>
            <a:ext cx="4540084" cy="1238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200" dirty="0">
                <a:latin typeface="Trebuchet MS" panose="020B0603020202020204" pitchFamily="34" charset="0"/>
              </a:rPr>
              <a:t>○ </a:t>
            </a:r>
            <a:r>
              <a:rPr lang="en-US" altLang="ko-KR" sz="1200" dirty="0">
                <a:latin typeface="Trebuchet MS" panose="020B0603020202020204" pitchFamily="34" charset="0"/>
              </a:rPr>
              <a:t>Fab-Out </a:t>
            </a:r>
            <a:r>
              <a:rPr lang="ko-KR" altLang="en-US" sz="1200" dirty="0">
                <a:latin typeface="Trebuchet MS" panose="020B0603020202020204" pitchFamily="34" charset="0"/>
              </a:rPr>
              <a:t>이전 장비에서 초단위로 측정되는 </a:t>
            </a:r>
            <a:r>
              <a:rPr lang="en-US" altLang="ko-KR" sz="1200" dirty="0">
                <a:latin typeface="Trebuchet MS" panose="020B0603020202020204" pitchFamily="34" charset="0"/>
              </a:rPr>
              <a:t>FDC Trace</a:t>
            </a:r>
            <a:r>
              <a:rPr lang="ko-KR" altLang="en-US" sz="1200" dirty="0">
                <a:latin typeface="Trebuchet MS" panose="020B0603020202020204" pitchFamily="34" charset="0"/>
              </a:rPr>
              <a:t>로 </a:t>
            </a:r>
            <a:r>
              <a:rPr lang="en-US" altLang="ko-KR" sz="1200" dirty="0">
                <a:latin typeface="Trebuchet MS" panose="020B0603020202020204" pitchFamily="34" charset="0"/>
              </a:rPr>
              <a:t>Defect Test</a:t>
            </a:r>
            <a:r>
              <a:rPr lang="ko-KR" altLang="en-US" sz="1200" dirty="0">
                <a:latin typeface="Trebuchet MS" panose="020B0603020202020204" pitchFamily="34" charset="0"/>
              </a:rPr>
              <a:t>를 예측할 수 있게 되었으나 </a:t>
            </a:r>
            <a:r>
              <a:rPr lang="en-US" altLang="ko-KR" sz="1200" dirty="0">
                <a:latin typeface="Trebuchet MS" panose="020B0603020202020204" pitchFamily="34" charset="0"/>
              </a:rPr>
              <a:t>PM </a:t>
            </a:r>
            <a:r>
              <a:rPr lang="ko-KR" altLang="en-US" sz="1200">
                <a:latin typeface="Trebuchet MS" panose="020B0603020202020204" pitchFamily="34" charset="0"/>
              </a:rPr>
              <a:t>이후 </a:t>
            </a:r>
            <a:r>
              <a:rPr lang="ko-KR" altLang="en-US" sz="1200" b="1" u="sng">
                <a:latin typeface="Trebuchet MS" panose="020B0603020202020204" pitchFamily="34" charset="0"/>
              </a:rPr>
              <a:t>예측모형의</a:t>
            </a:r>
            <a:br>
              <a:rPr lang="en-US" altLang="ko-KR" sz="1200" b="1" u="sng">
                <a:latin typeface="Trebuchet MS" panose="020B0603020202020204" pitchFamily="34" charset="0"/>
              </a:rPr>
            </a:br>
            <a:r>
              <a:rPr lang="ko-KR" altLang="en-US" sz="1200" b="1" u="sng">
                <a:latin typeface="Trebuchet MS" panose="020B0603020202020204" pitchFamily="34" charset="0"/>
              </a:rPr>
              <a:t>성능이 </a:t>
            </a:r>
            <a:r>
              <a:rPr lang="ko-KR" altLang="en-US" sz="1200" b="1" u="sng" dirty="0" err="1">
                <a:latin typeface="Trebuchet MS" panose="020B0603020202020204" pitchFamily="34" charset="0"/>
              </a:rPr>
              <a:t>열화되었음</a:t>
            </a:r>
            <a:endParaRPr lang="en-US" altLang="ko-KR" sz="1200" b="1" u="sng" dirty="0">
              <a:latin typeface="Trebuchet MS" panose="020B0603020202020204" pitchFamily="34" charset="0"/>
            </a:endParaRPr>
          </a:p>
          <a:p>
            <a:pPr>
              <a:spcBef>
                <a:spcPts val="300"/>
              </a:spcBef>
            </a:pPr>
            <a:br>
              <a:rPr lang="en-US" altLang="ko-KR" sz="1200" dirty="0">
                <a:latin typeface="Trebuchet MS" panose="020B0603020202020204" pitchFamily="34" charset="0"/>
              </a:rPr>
            </a:br>
            <a:r>
              <a:rPr lang="ko-KR" altLang="en-US" sz="1200" dirty="0">
                <a:latin typeface="Trebuchet MS" panose="020B0603020202020204" pitchFamily="34" charset="0"/>
              </a:rPr>
              <a:t>○ </a:t>
            </a:r>
            <a:r>
              <a:rPr lang="en-US" altLang="ko-KR" sz="1200" dirty="0">
                <a:latin typeface="Trebuchet MS" panose="020B0603020202020204" pitchFamily="34" charset="0"/>
              </a:rPr>
              <a:t>PM</a:t>
            </a:r>
            <a:r>
              <a:rPr lang="ko-KR" altLang="en-US" sz="1200" dirty="0">
                <a:latin typeface="Trebuchet MS" panose="020B0603020202020204" pitchFamily="34" charset="0"/>
              </a:rPr>
              <a:t> 으로 인해 발생한 </a:t>
            </a:r>
            <a:r>
              <a:rPr lang="en-US" altLang="ko-KR" sz="1200" dirty="0">
                <a:latin typeface="Trebuchet MS" panose="020B0603020202020204" pitchFamily="34" charset="0"/>
              </a:rPr>
              <a:t>FDC Trace</a:t>
            </a:r>
            <a:r>
              <a:rPr lang="ko-KR" altLang="en-US" sz="1200" dirty="0">
                <a:latin typeface="Trebuchet MS" panose="020B0603020202020204" pitchFamily="34" charset="0"/>
              </a:rPr>
              <a:t>의 변화 등을 보정하여 </a:t>
            </a:r>
            <a:r>
              <a:rPr lang="en-US" altLang="ko-KR" sz="1200" dirty="0">
                <a:latin typeface="Trebuchet MS" panose="020B0603020202020204" pitchFamily="34" charset="0"/>
              </a:rPr>
              <a:t>Defect</a:t>
            </a:r>
            <a:r>
              <a:rPr lang="ko-KR" altLang="en-US" sz="1200" dirty="0">
                <a:latin typeface="Trebuchet MS" panose="020B0603020202020204" pitchFamily="34" charset="0"/>
              </a:rPr>
              <a:t> </a:t>
            </a:r>
            <a:r>
              <a:rPr lang="en-US" altLang="ko-KR" sz="1200" dirty="0">
                <a:latin typeface="Trebuchet MS" panose="020B0603020202020204" pitchFamily="34" charset="0"/>
              </a:rPr>
              <a:t>Test</a:t>
            </a:r>
            <a:r>
              <a:rPr lang="ko-KR" altLang="en-US" sz="1200" dirty="0">
                <a:latin typeface="Trebuchet MS" panose="020B0603020202020204" pitchFamily="34" charset="0"/>
              </a:rPr>
              <a:t> </a:t>
            </a:r>
            <a:r>
              <a:rPr lang="ko-KR" altLang="en-US" sz="1200" dirty="0" err="1">
                <a:latin typeface="Trebuchet MS" panose="020B0603020202020204" pitchFamily="34" charset="0"/>
              </a:rPr>
              <a:t>예측성능이</a:t>
            </a:r>
            <a:r>
              <a:rPr lang="ko-KR" altLang="en-US" sz="1200" dirty="0">
                <a:latin typeface="Trebuchet MS" panose="020B0603020202020204" pitchFamily="34" charset="0"/>
              </a:rPr>
              <a:t> 저하되지 않도록 하고자 함</a:t>
            </a:r>
            <a:endParaRPr lang="en-US" altLang="ko-KR" sz="1200" dirty="0">
              <a:latin typeface="Trebuchet MS" panose="020B0603020202020204" pitchFamily="34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540148" y="1500172"/>
            <a:ext cx="8805462" cy="350101"/>
            <a:chOff x="273050" y="1515413"/>
            <a:chExt cx="8424777" cy="350101"/>
          </a:xfrm>
        </p:grpSpPr>
        <p:grpSp>
          <p:nvGrpSpPr>
            <p:cNvPr id="12" name="Group 16"/>
            <p:cNvGrpSpPr/>
            <p:nvPr/>
          </p:nvGrpSpPr>
          <p:grpSpPr>
            <a:xfrm>
              <a:off x="273050" y="1515413"/>
              <a:ext cx="3960000" cy="347880"/>
              <a:chOff x="273050" y="1500173"/>
              <a:chExt cx="3960000" cy="347880"/>
            </a:xfrm>
          </p:grpSpPr>
          <p:cxnSp>
            <p:nvCxnSpPr>
              <p:cNvPr id="16" name="Straight Connector 115"/>
              <p:cNvCxnSpPr/>
              <p:nvPr/>
            </p:nvCxnSpPr>
            <p:spPr>
              <a:xfrm>
                <a:off x="273050" y="1848053"/>
                <a:ext cx="3960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TextBox 16"/>
              <p:cNvSpPr txBox="1"/>
              <p:nvPr/>
            </p:nvSpPr>
            <p:spPr>
              <a:xfrm>
                <a:off x="273051" y="1500173"/>
                <a:ext cx="395999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lvl="0" algn="ctr"/>
                <a:r>
                  <a:rPr lang="ko-KR" altLang="en-US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문제 상황 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(</a:t>
                </a:r>
                <a:r>
                  <a:rPr lang="ko-KR" altLang="en-US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난이도 下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)</a:t>
                </a:r>
                <a:endParaRPr lang="ko-KR" altLang="en-US" sz="1400" b="1" dirty="0">
                  <a:solidFill>
                    <a:prstClr val="black"/>
                  </a:solidFill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13" name="Group 16"/>
            <p:cNvGrpSpPr/>
            <p:nvPr/>
          </p:nvGrpSpPr>
          <p:grpSpPr>
            <a:xfrm>
              <a:off x="4737827" y="1517633"/>
              <a:ext cx="3960000" cy="347881"/>
              <a:chOff x="273050" y="1500172"/>
              <a:chExt cx="3960000" cy="347881"/>
            </a:xfrm>
          </p:grpSpPr>
          <p:cxnSp>
            <p:nvCxnSpPr>
              <p:cNvPr id="14" name="Straight Connector 115"/>
              <p:cNvCxnSpPr/>
              <p:nvPr/>
            </p:nvCxnSpPr>
            <p:spPr>
              <a:xfrm>
                <a:off x="273050" y="1848053"/>
                <a:ext cx="3960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TextBox 14"/>
              <p:cNvSpPr txBox="1"/>
              <p:nvPr/>
            </p:nvSpPr>
            <p:spPr>
              <a:xfrm>
                <a:off x="273051" y="1500172"/>
                <a:ext cx="3959999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lvl="0" algn="ctr"/>
                <a:r>
                  <a:rPr lang="ko-KR" altLang="en-US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문제 상황 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(</a:t>
                </a:r>
                <a:r>
                  <a:rPr lang="ko-KR" altLang="en-US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난이도 上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Trebuchet MS" panose="020B0603020202020204" pitchFamily="34" charset="0"/>
                  </a:rPr>
                  <a:t>)</a:t>
                </a:r>
                <a:endParaRPr lang="ko-KR" altLang="en-US" sz="1400" b="1" dirty="0">
                  <a:solidFill>
                    <a:prstClr val="black"/>
                  </a:solidFill>
                  <a:latin typeface="Trebuchet MS" panose="020B0603020202020204" pitchFamily="34" charset="0"/>
                </a:endParaRPr>
              </a:p>
            </p:txBody>
          </p:sp>
        </p:grpSp>
      </p:grpSp>
      <p:grpSp>
        <p:nvGrpSpPr>
          <p:cNvPr id="68" name="그룹 67"/>
          <p:cNvGrpSpPr/>
          <p:nvPr/>
        </p:nvGrpSpPr>
        <p:grpSpPr>
          <a:xfrm>
            <a:off x="1072971" y="3483413"/>
            <a:ext cx="1031995" cy="836721"/>
            <a:chOff x="891742" y="2233060"/>
            <a:chExt cx="1031995" cy="836721"/>
          </a:xfrm>
        </p:grpSpPr>
        <p:sp>
          <p:nvSpPr>
            <p:cNvPr id="69" name="직사각형 68"/>
            <p:cNvSpPr/>
            <p:nvPr/>
          </p:nvSpPr>
          <p:spPr>
            <a:xfrm>
              <a:off x="891742" y="2233060"/>
              <a:ext cx="935414" cy="7870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dirty="0" err="1">
                  <a:latin typeface="Trebuchet MS" panose="020B0603020202020204" pitchFamily="34" charset="0"/>
                  <a:cs typeface="Calibri" panose="020F0502020204030204" pitchFamily="34" charset="0"/>
                </a:rPr>
                <a:t>공정진행</a:t>
              </a:r>
              <a:endParaRPr kumimoji="1" lang="ko-KR" altLang="en-US" sz="1100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순서도: 다중 문서 69"/>
            <p:cNvSpPr/>
            <p:nvPr/>
          </p:nvSpPr>
          <p:spPr bwMode="auto">
            <a:xfrm>
              <a:off x="1459268" y="2825952"/>
              <a:ext cx="464469" cy="243829"/>
            </a:xfrm>
            <a:prstGeom prst="flowChartMultidocumen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dirty="0">
                  <a:latin typeface="Trebuchet MS" panose="020B0603020202020204" pitchFamily="34" charset="0"/>
                  <a:cs typeface="Calibri" panose="020F0502020204030204" pitchFamily="34" charset="0"/>
                </a:rPr>
                <a:t>WFs</a:t>
              </a:r>
              <a:endParaRPr kumimoji="1" lang="ko-KR" altLang="en-US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7" name="그림 6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7688" y="3589499"/>
            <a:ext cx="647822" cy="574871"/>
          </a:xfrm>
          <a:prstGeom prst="rect">
            <a:avLst/>
          </a:prstGeom>
        </p:spPr>
      </p:pic>
      <p:sp>
        <p:nvSpPr>
          <p:cNvPr id="71" name="타원 70"/>
          <p:cNvSpPr/>
          <p:nvPr/>
        </p:nvSpPr>
        <p:spPr>
          <a:xfrm>
            <a:off x="3781752" y="3444060"/>
            <a:ext cx="870654" cy="86574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Trebuchet MS" panose="020B0603020202020204" pitchFamily="34" charset="0"/>
                <a:cs typeface="Calibri" panose="020F0502020204030204" pitchFamily="34" charset="0"/>
              </a:rPr>
              <a:t>Test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(PT1H, PT2H, etc…)</a:t>
            </a:r>
            <a:endParaRPr kumimoji="1" lang="ko-KR" altLang="en-US" sz="1100" dirty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93" y="3369479"/>
            <a:ext cx="634850" cy="341056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249" y="3543775"/>
            <a:ext cx="594093" cy="319160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649" y="3696175"/>
            <a:ext cx="594093" cy="319160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049" y="3848575"/>
            <a:ext cx="594093" cy="319160"/>
          </a:xfrm>
          <a:prstGeom prst="rect">
            <a:avLst/>
          </a:prstGeom>
        </p:spPr>
      </p:pic>
      <p:pic>
        <p:nvPicPr>
          <p:cNvPr id="83" name="그림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693" y="3979079"/>
            <a:ext cx="634850" cy="341056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087093" y="3324276"/>
            <a:ext cx="1353697" cy="1110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5" name="직선 화살표 연결선 4"/>
          <p:cNvCxnSpPr>
            <a:stCxn id="2" idx="3"/>
            <a:endCxn id="71" idx="2"/>
          </p:cNvCxnSpPr>
          <p:nvPr/>
        </p:nvCxnSpPr>
        <p:spPr>
          <a:xfrm flipV="1">
            <a:off x="3440790" y="3876934"/>
            <a:ext cx="340962" cy="2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909142" y="3208860"/>
            <a:ext cx="6158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Fab-Out</a:t>
            </a:r>
            <a:endParaRPr lang="ko-KR" altLang="en-US" sz="900" dirty="0"/>
          </a:p>
        </p:txBody>
      </p:sp>
      <p:sp>
        <p:nvSpPr>
          <p:cNvPr id="88" name="TextBox 87"/>
          <p:cNvSpPr txBox="1"/>
          <p:nvPr/>
        </p:nvSpPr>
        <p:spPr>
          <a:xfrm>
            <a:off x="2405512" y="4350328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FDC Trace</a:t>
            </a:r>
            <a:endParaRPr lang="ko-KR" altLang="en-US" sz="900" dirty="0"/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54" y="5069626"/>
            <a:ext cx="634850" cy="341056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10" y="5243922"/>
            <a:ext cx="594093" cy="319160"/>
          </a:xfrm>
          <a:prstGeom prst="rect">
            <a:avLst/>
          </a:prstGeom>
        </p:spPr>
      </p:pic>
      <p:pic>
        <p:nvPicPr>
          <p:cNvPr id="91" name="그림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10" y="5396322"/>
            <a:ext cx="594093" cy="319160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210" y="5548722"/>
            <a:ext cx="594093" cy="319160"/>
          </a:xfrm>
          <a:prstGeom prst="rect">
            <a:avLst/>
          </a:prstGeom>
        </p:spPr>
      </p:pic>
      <p:pic>
        <p:nvPicPr>
          <p:cNvPr id="93" name="그림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54" y="5679226"/>
            <a:ext cx="634850" cy="341056"/>
          </a:xfrm>
          <a:prstGeom prst="rect">
            <a:avLst/>
          </a:prstGeom>
        </p:spPr>
      </p:pic>
      <p:sp>
        <p:nvSpPr>
          <p:cNvPr id="94" name="직사각형 93"/>
          <p:cNvSpPr/>
          <p:nvPr/>
        </p:nvSpPr>
        <p:spPr>
          <a:xfrm>
            <a:off x="711254" y="5024423"/>
            <a:ext cx="1353697" cy="1110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1029673" y="6006558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FDC Trace</a:t>
            </a:r>
            <a:endParaRPr lang="ko-KR" altLang="en-US" sz="900" dirty="0"/>
          </a:p>
        </p:txBody>
      </p:sp>
      <p:sp>
        <p:nvSpPr>
          <p:cNvPr id="96" name="사다리꼴 95"/>
          <p:cNvSpPr/>
          <p:nvPr/>
        </p:nvSpPr>
        <p:spPr>
          <a:xfrm rot="5400000">
            <a:off x="2214247" y="5224652"/>
            <a:ext cx="1051294" cy="713049"/>
          </a:xfrm>
          <a:prstGeom prst="trapezoi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Model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3586252" y="5146601"/>
            <a:ext cx="870654" cy="86574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Trebuchet MS" panose="020B0603020202020204" pitchFamily="34" charset="0"/>
                <a:cs typeface="Calibri" panose="020F0502020204030204" pitchFamily="34" charset="0"/>
              </a:rPr>
              <a:t>Predicted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Trebuchet MS" panose="020B0603020202020204" pitchFamily="34" charset="0"/>
                <a:cs typeface="Calibri" panose="020F0502020204030204" pitchFamily="34" charset="0"/>
              </a:rPr>
              <a:t>Test</a:t>
            </a:r>
          </a:p>
        </p:txBody>
      </p:sp>
      <p:cxnSp>
        <p:nvCxnSpPr>
          <p:cNvPr id="99" name="직선 화살표 연결선 98"/>
          <p:cNvCxnSpPr>
            <a:stCxn id="94" idx="3"/>
            <a:endCxn id="96" idx="2"/>
          </p:cNvCxnSpPr>
          <p:nvPr/>
        </p:nvCxnSpPr>
        <p:spPr>
          <a:xfrm>
            <a:off x="2064951" y="5579475"/>
            <a:ext cx="318419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96" idx="0"/>
            <a:endCxn id="97" idx="2"/>
          </p:cNvCxnSpPr>
          <p:nvPr/>
        </p:nvCxnSpPr>
        <p:spPr>
          <a:xfrm flipV="1">
            <a:off x="3096419" y="5579475"/>
            <a:ext cx="489833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50914" y="3332823"/>
            <a:ext cx="3706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Fab</a:t>
            </a:r>
            <a:endParaRPr lang="ko-KR" altLang="en-US" sz="9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50984" y="4978193"/>
            <a:ext cx="3706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Fab</a:t>
            </a:r>
            <a:endParaRPr lang="ko-KR" altLang="en-US" sz="900" dirty="0"/>
          </a:p>
        </p:txBody>
      </p:sp>
      <p:pic>
        <p:nvPicPr>
          <p:cNvPr id="108" name="그림 10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7070" y="3587786"/>
            <a:ext cx="647822" cy="574871"/>
          </a:xfrm>
          <a:prstGeom prst="rect">
            <a:avLst/>
          </a:prstGeom>
        </p:spPr>
      </p:pic>
      <p:pic>
        <p:nvPicPr>
          <p:cNvPr id="109" name="그림 10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9556" y="3581537"/>
            <a:ext cx="647822" cy="574871"/>
          </a:xfrm>
          <a:prstGeom prst="rect">
            <a:avLst/>
          </a:prstGeom>
        </p:spPr>
      </p:pic>
      <p:cxnSp>
        <p:nvCxnSpPr>
          <p:cNvPr id="111" name="직선 화살표 연결선 110"/>
          <p:cNvCxnSpPr>
            <a:stCxn id="108" idx="3"/>
            <a:endCxn id="109" idx="1"/>
          </p:cNvCxnSpPr>
          <p:nvPr/>
        </p:nvCxnSpPr>
        <p:spPr>
          <a:xfrm flipV="1">
            <a:off x="6104892" y="3868973"/>
            <a:ext cx="804664" cy="6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865063" y="3358667"/>
            <a:ext cx="12843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PM </a:t>
            </a:r>
            <a:r>
              <a:rPr lang="ko-KR" altLang="en-US" sz="900" dirty="0"/>
              <a:t>등 </a:t>
            </a:r>
            <a:r>
              <a:rPr lang="ko-KR" altLang="en-US" sz="900" dirty="0" err="1"/>
              <a:t>장비변동</a:t>
            </a:r>
            <a:r>
              <a:rPr lang="ko-KR" altLang="en-US" sz="900" dirty="0"/>
              <a:t> 발생</a:t>
            </a:r>
          </a:p>
        </p:txBody>
      </p:sp>
      <p:pic>
        <p:nvPicPr>
          <p:cNvPr id="113" name="그림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035" y="4201283"/>
            <a:ext cx="634850" cy="341056"/>
          </a:xfrm>
          <a:prstGeom prst="rect">
            <a:avLst/>
          </a:prstGeom>
        </p:spPr>
      </p:pic>
      <p:pic>
        <p:nvPicPr>
          <p:cNvPr id="114" name="그림 1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35" y="4353683"/>
            <a:ext cx="634850" cy="341056"/>
          </a:xfrm>
          <a:prstGeom prst="rect">
            <a:avLst/>
          </a:prstGeom>
        </p:spPr>
      </p:pic>
      <p:pic>
        <p:nvPicPr>
          <p:cNvPr id="115" name="그림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835" y="4506083"/>
            <a:ext cx="634850" cy="341056"/>
          </a:xfrm>
          <a:prstGeom prst="rect">
            <a:avLst/>
          </a:prstGeom>
        </p:spPr>
      </p:pic>
      <p:pic>
        <p:nvPicPr>
          <p:cNvPr id="116" name="그림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235" y="4658483"/>
            <a:ext cx="634850" cy="341056"/>
          </a:xfrm>
          <a:prstGeom prst="rect">
            <a:avLst/>
          </a:prstGeom>
        </p:spPr>
      </p:pic>
      <p:pic>
        <p:nvPicPr>
          <p:cNvPr id="117" name="그림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35" y="4810883"/>
            <a:ext cx="634850" cy="341056"/>
          </a:xfrm>
          <a:prstGeom prst="rect">
            <a:avLst/>
          </a:prstGeom>
        </p:spPr>
      </p:pic>
      <p:pic>
        <p:nvPicPr>
          <p:cNvPr id="118" name="그림 1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224" y="4164370"/>
            <a:ext cx="634850" cy="341056"/>
          </a:xfrm>
          <a:prstGeom prst="rect">
            <a:avLst/>
          </a:prstGeom>
        </p:spPr>
      </p:pic>
      <p:pic>
        <p:nvPicPr>
          <p:cNvPr id="119" name="그림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624" y="4316770"/>
            <a:ext cx="634850" cy="341056"/>
          </a:xfrm>
          <a:prstGeom prst="rect">
            <a:avLst/>
          </a:prstGeom>
        </p:spPr>
      </p:pic>
      <p:pic>
        <p:nvPicPr>
          <p:cNvPr id="120" name="그림 1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024" y="4469170"/>
            <a:ext cx="634850" cy="341056"/>
          </a:xfrm>
          <a:prstGeom prst="rect">
            <a:avLst/>
          </a:prstGeom>
        </p:spPr>
      </p:pic>
      <p:pic>
        <p:nvPicPr>
          <p:cNvPr id="121" name="그림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424" y="4621570"/>
            <a:ext cx="634850" cy="341056"/>
          </a:xfrm>
          <a:prstGeom prst="rect">
            <a:avLst/>
          </a:prstGeom>
        </p:spPr>
      </p:pic>
      <p:pic>
        <p:nvPicPr>
          <p:cNvPr id="122" name="그림 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824" y="4773970"/>
            <a:ext cx="634850" cy="341056"/>
          </a:xfrm>
          <a:prstGeom prst="rect">
            <a:avLst/>
          </a:prstGeom>
        </p:spPr>
      </p:pic>
      <p:sp>
        <p:nvSpPr>
          <p:cNvPr id="123" name="사다리꼴 122"/>
          <p:cNvSpPr/>
          <p:nvPr/>
        </p:nvSpPr>
        <p:spPr>
          <a:xfrm rot="5400000">
            <a:off x="6133977" y="5572625"/>
            <a:ext cx="1051294" cy="713049"/>
          </a:xfrm>
          <a:prstGeom prst="trapezoi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Model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5097020" y="4149607"/>
            <a:ext cx="1304465" cy="105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5" name="직사각형 124"/>
          <p:cNvSpPr/>
          <p:nvPr/>
        </p:nvSpPr>
        <p:spPr>
          <a:xfrm>
            <a:off x="6507224" y="4087183"/>
            <a:ext cx="1304465" cy="105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127" name="꺾인 연결선 126"/>
          <p:cNvCxnSpPr>
            <a:stCxn id="124" idx="2"/>
            <a:endCxn id="123" idx="2"/>
          </p:cNvCxnSpPr>
          <p:nvPr/>
        </p:nvCxnSpPr>
        <p:spPr>
          <a:xfrm rot="16200000" flipH="1">
            <a:off x="5666114" y="5292163"/>
            <a:ext cx="720125" cy="5538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125" idx="2"/>
            <a:endCxn id="123" idx="1"/>
          </p:cNvCxnSpPr>
          <p:nvPr/>
        </p:nvCxnSpPr>
        <p:spPr>
          <a:xfrm rot="5400000">
            <a:off x="6736525" y="5069701"/>
            <a:ext cx="346033" cy="4998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/>
          <p:cNvSpPr/>
          <p:nvPr/>
        </p:nvSpPr>
        <p:spPr>
          <a:xfrm>
            <a:off x="7308041" y="5496275"/>
            <a:ext cx="870654" cy="86574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Trebuchet MS" panose="020B0603020202020204" pitchFamily="34" charset="0"/>
                <a:cs typeface="Calibri" panose="020F0502020204030204" pitchFamily="34" charset="0"/>
              </a:rPr>
              <a:t>Predicted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Trebuchet MS" panose="020B0603020202020204" pitchFamily="34" charset="0"/>
                <a:cs typeface="Calibri" panose="020F0502020204030204" pitchFamily="34" charset="0"/>
              </a:rPr>
              <a:t>Test</a:t>
            </a:r>
          </a:p>
        </p:txBody>
      </p:sp>
      <p:sp>
        <p:nvSpPr>
          <p:cNvPr id="131" name="타원 130"/>
          <p:cNvSpPr/>
          <p:nvPr/>
        </p:nvSpPr>
        <p:spPr>
          <a:xfrm>
            <a:off x="8618737" y="3430061"/>
            <a:ext cx="870654" cy="86574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Trebuchet MS" panose="020B0603020202020204" pitchFamily="34" charset="0"/>
                <a:cs typeface="Calibri" panose="020F0502020204030204" pitchFamily="34" charset="0"/>
              </a:rPr>
              <a:t>Test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(PT1H, PT2H, etc…)</a:t>
            </a:r>
            <a:endParaRPr kumimoji="1" lang="ko-KR" altLang="en-US" sz="1100" dirty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33" name="직선 화살표 연결선 132"/>
          <p:cNvCxnSpPr>
            <a:stCxn id="123" idx="0"/>
            <a:endCxn id="130" idx="2"/>
          </p:cNvCxnSpPr>
          <p:nvPr/>
        </p:nvCxnSpPr>
        <p:spPr>
          <a:xfrm flipV="1">
            <a:off x="7016149" y="5929149"/>
            <a:ext cx="291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>
            <a:stCxn id="109" idx="3"/>
            <a:endCxn id="131" idx="2"/>
          </p:cNvCxnSpPr>
          <p:nvPr/>
        </p:nvCxnSpPr>
        <p:spPr>
          <a:xfrm flipV="1">
            <a:off x="7557378" y="3862935"/>
            <a:ext cx="1061359" cy="6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모서리가 둥근 직사각형 138"/>
          <p:cNvSpPr/>
          <p:nvPr/>
        </p:nvSpPr>
        <p:spPr>
          <a:xfrm>
            <a:off x="5157035" y="3292912"/>
            <a:ext cx="3250365" cy="330452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0" name="TextBox 139"/>
          <p:cNvSpPr txBox="1"/>
          <p:nvPr/>
        </p:nvSpPr>
        <p:spPr>
          <a:xfrm>
            <a:off x="5365859" y="3337641"/>
            <a:ext cx="3706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Fab</a:t>
            </a:r>
            <a:endParaRPr lang="ko-KR" altLang="en-US" sz="900" dirty="0"/>
          </a:p>
        </p:txBody>
      </p:sp>
      <p:sp>
        <p:nvSpPr>
          <p:cNvPr id="141" name="오른쪽 화살표 140"/>
          <p:cNvSpPr/>
          <p:nvPr/>
        </p:nvSpPr>
        <p:spPr>
          <a:xfrm rot="5400000">
            <a:off x="2644913" y="4678454"/>
            <a:ext cx="188440" cy="187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142" name="그림 14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110" y="5330293"/>
            <a:ext cx="647822" cy="574871"/>
          </a:xfrm>
          <a:prstGeom prst="rect">
            <a:avLst/>
          </a:prstGeom>
        </p:spPr>
      </p:pic>
      <p:cxnSp>
        <p:nvCxnSpPr>
          <p:cNvPr id="146" name="꺾인 연결선 145"/>
          <p:cNvCxnSpPr>
            <a:stCxn id="97" idx="4"/>
            <a:endCxn id="142" idx="2"/>
          </p:cNvCxnSpPr>
          <p:nvPr/>
        </p:nvCxnSpPr>
        <p:spPr>
          <a:xfrm rot="5400000" flipH="1">
            <a:off x="2372708" y="4363477"/>
            <a:ext cx="107184" cy="3190558"/>
          </a:xfrm>
          <a:prstGeom prst="bentConnector3">
            <a:avLst>
              <a:gd name="adj1" fmla="val -3375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2044614" y="6366829"/>
            <a:ext cx="8018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공정 피드백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299361" y="5189035"/>
            <a:ext cx="4154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보정</a:t>
            </a:r>
          </a:p>
        </p:txBody>
      </p:sp>
    </p:spTree>
    <p:extLst>
      <p:ext uri="{BB962C8B-B14F-4D97-AF65-F5344CB8AC3E}">
        <p14:creationId xmlns:p14="http://schemas.microsoft.com/office/powerpoint/2010/main" val="236938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035"/>
          <p:cNvSpPr txBox="1">
            <a:spLocks noChangeArrowheads="1"/>
          </p:cNvSpPr>
          <p:nvPr/>
        </p:nvSpPr>
        <p:spPr bwMode="auto">
          <a:xfrm>
            <a:off x="506413" y="156622"/>
            <a:ext cx="7900987" cy="35137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  <a:defRPr/>
            </a:pPr>
            <a:r>
              <a:rPr lang="en-US" altLang="ko-KR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2. Data </a:t>
            </a:r>
            <a:r>
              <a:rPr lang="ko-KR" altLang="en-US" sz="1700" b="1" kern="0" dirty="0">
                <a:solidFill>
                  <a:srgbClr val="000000"/>
                </a:solidFill>
                <a:latin typeface="Trebuchet MS" panose="020B0603020202020204" pitchFamily="34" charset="0"/>
              </a:rPr>
              <a:t>구성 </a:t>
            </a:r>
            <a:r>
              <a:rPr lang="ko-KR" altLang="en-US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및 채점 방안</a:t>
            </a:r>
            <a:endParaRPr lang="ko-KR" altLang="en-US" sz="1700" b="1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506413" y="803343"/>
            <a:ext cx="8767187" cy="350101"/>
            <a:chOff x="273050" y="1515413"/>
            <a:chExt cx="8424777" cy="350101"/>
          </a:xfrm>
        </p:grpSpPr>
        <p:grpSp>
          <p:nvGrpSpPr>
            <p:cNvPr id="69" name="Group 16"/>
            <p:cNvGrpSpPr/>
            <p:nvPr/>
          </p:nvGrpSpPr>
          <p:grpSpPr>
            <a:xfrm>
              <a:off x="273050" y="1515413"/>
              <a:ext cx="3960000" cy="347880"/>
              <a:chOff x="273050" y="1500173"/>
              <a:chExt cx="3960000" cy="347880"/>
            </a:xfrm>
          </p:grpSpPr>
          <p:cxnSp>
            <p:nvCxnSpPr>
              <p:cNvPr id="73" name="Straight Connector 115"/>
              <p:cNvCxnSpPr/>
              <p:nvPr/>
            </p:nvCxnSpPr>
            <p:spPr>
              <a:xfrm>
                <a:off x="273050" y="1848053"/>
                <a:ext cx="3960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4" name="TextBox 73"/>
              <p:cNvSpPr txBox="1"/>
              <p:nvPr/>
            </p:nvSpPr>
            <p:spPr>
              <a:xfrm>
                <a:off x="273051" y="1500173"/>
                <a:ext cx="395999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lvl="0" algn="ctr"/>
                <a:r>
                  <a:rPr lang="en-US" altLang="ko-KR" sz="1400" b="1" dirty="0">
                    <a:solidFill>
                      <a:prstClr val="black"/>
                    </a:solidFill>
                    <a:latin typeface="+mn-ea"/>
                  </a:rPr>
                  <a:t>Data </a:t>
                </a:r>
                <a:r>
                  <a:rPr lang="ko-KR" altLang="en-US" sz="1400" b="1" dirty="0">
                    <a:solidFill>
                      <a:prstClr val="black"/>
                    </a:solidFill>
                    <a:latin typeface="+mn-ea"/>
                  </a:rPr>
                  <a:t>구성 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+mn-ea"/>
                  </a:rPr>
                  <a:t>(</a:t>
                </a:r>
                <a:r>
                  <a:rPr lang="ko-KR" altLang="en-US" sz="1400" b="1" dirty="0">
                    <a:solidFill>
                      <a:prstClr val="black"/>
                    </a:solidFill>
                    <a:latin typeface="+mn-ea"/>
                  </a:rPr>
                  <a:t>난이도 下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+mn-ea"/>
                  </a:rPr>
                  <a:t>)</a:t>
                </a:r>
                <a:endParaRPr lang="ko-KR" altLang="en-US" sz="1400" b="1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70" name="Group 16"/>
            <p:cNvGrpSpPr/>
            <p:nvPr/>
          </p:nvGrpSpPr>
          <p:grpSpPr>
            <a:xfrm>
              <a:off x="4737827" y="1517633"/>
              <a:ext cx="3960000" cy="347881"/>
              <a:chOff x="273050" y="1500172"/>
              <a:chExt cx="3960000" cy="347881"/>
            </a:xfrm>
          </p:grpSpPr>
          <p:cxnSp>
            <p:nvCxnSpPr>
              <p:cNvPr id="71" name="Straight Connector 115"/>
              <p:cNvCxnSpPr/>
              <p:nvPr/>
            </p:nvCxnSpPr>
            <p:spPr>
              <a:xfrm>
                <a:off x="273050" y="1848053"/>
                <a:ext cx="3960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2" name="TextBox 71"/>
              <p:cNvSpPr txBox="1"/>
              <p:nvPr/>
            </p:nvSpPr>
            <p:spPr>
              <a:xfrm>
                <a:off x="273051" y="1500172"/>
                <a:ext cx="3959999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lvl="0" algn="ctr"/>
                <a:r>
                  <a:rPr lang="ko-KR" altLang="en-US" sz="1400" b="1" dirty="0">
                    <a:solidFill>
                      <a:prstClr val="black"/>
                    </a:solidFill>
                    <a:latin typeface="+mn-ea"/>
                  </a:rPr>
                  <a:t>채점 방안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368805" y="1257458"/>
            <a:ext cx="4660122" cy="1786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+mn-ea"/>
              </a:rPr>
              <a:t>train_data</a:t>
            </a:r>
            <a:r>
              <a:rPr lang="en-US" altLang="ko-KR" sz="1300" b="1" dirty="0">
                <a:latin typeface="+mn-ea"/>
              </a:rPr>
              <a:t>: X</a:t>
            </a:r>
            <a:r>
              <a:rPr lang="ko-KR" altLang="en-US" sz="1300" b="1" dirty="0">
                <a:latin typeface="+mn-ea"/>
              </a:rPr>
              <a:t>와</a:t>
            </a:r>
            <a:r>
              <a:rPr lang="en-US" altLang="ko-KR" sz="1300" b="1" dirty="0">
                <a:latin typeface="+mn-ea"/>
              </a:rPr>
              <a:t> Y</a:t>
            </a:r>
            <a:r>
              <a:rPr lang="ko-KR" altLang="en-US" sz="1300" b="1" dirty="0">
                <a:latin typeface="+mn-ea"/>
              </a:rPr>
              <a:t>를 포함한 훈련용 데이터</a:t>
            </a:r>
            <a:endParaRPr lang="en-US" altLang="ko-KR" sz="1300" b="1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WF ID</a:t>
            </a:r>
            <a:r>
              <a:rPr lang="ko-KR" altLang="en-US" sz="1200" dirty="0">
                <a:latin typeface="+mn-ea"/>
              </a:rPr>
              <a:t>와 연관된 </a:t>
            </a:r>
            <a:r>
              <a:rPr lang="en-US" altLang="ko-KR" sz="1200" dirty="0">
                <a:latin typeface="+mn-ea"/>
              </a:rPr>
              <a:t>Meta </a:t>
            </a:r>
            <a:r>
              <a:rPr lang="ko-KR" altLang="en-US" sz="1200" dirty="0">
                <a:latin typeface="+mn-ea"/>
              </a:rPr>
              <a:t>데이터</a:t>
            </a:r>
            <a:r>
              <a:rPr lang="en-US" altLang="ko-KR" sz="1200" dirty="0">
                <a:latin typeface="+mn-ea"/>
              </a:rPr>
              <a:t>, X, Y</a:t>
            </a:r>
            <a:r>
              <a:rPr lang="ko-KR" altLang="en-US" sz="1200" dirty="0">
                <a:latin typeface="+mn-ea"/>
              </a:rPr>
              <a:t>가 포함</a:t>
            </a:r>
            <a:endParaRPr lang="en-US" altLang="ko-KR" sz="1200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총 </a:t>
            </a:r>
            <a:r>
              <a:rPr lang="en-US" altLang="ko-KR" sz="1200" dirty="0">
                <a:latin typeface="+mn-ea"/>
              </a:rPr>
              <a:t>11,939</a:t>
            </a:r>
            <a:r>
              <a:rPr lang="ko-KR" altLang="en-US" sz="1200" dirty="0">
                <a:latin typeface="+mn-ea"/>
              </a:rPr>
              <a:t>개 </a:t>
            </a:r>
            <a:r>
              <a:rPr lang="en-US" altLang="ko-KR" sz="1200" dirty="0">
                <a:latin typeface="+mn-ea"/>
              </a:rPr>
              <a:t>WF, 123,614</a:t>
            </a:r>
            <a:r>
              <a:rPr lang="ko-KR" altLang="en-US" sz="1200" dirty="0">
                <a:latin typeface="+mn-ea"/>
              </a:rPr>
              <a:t>개 </a:t>
            </a:r>
            <a:r>
              <a:rPr lang="en-US" altLang="ko-KR" sz="1200" dirty="0">
                <a:latin typeface="+mn-ea"/>
              </a:rPr>
              <a:t>Row</a:t>
            </a: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+mn-ea"/>
              </a:rPr>
              <a:t>valid_X</a:t>
            </a:r>
            <a:r>
              <a:rPr lang="en-US" altLang="ko-KR" sz="1300" b="1" dirty="0">
                <a:latin typeface="+mn-ea"/>
              </a:rPr>
              <a:t>: X</a:t>
            </a:r>
            <a:r>
              <a:rPr lang="ko-KR" altLang="en-US" sz="1300" b="1" dirty="0">
                <a:latin typeface="+mn-ea"/>
              </a:rPr>
              <a:t>가 포함된 </a:t>
            </a:r>
            <a:r>
              <a:rPr lang="ko-KR" altLang="en-US" sz="1300" b="1" dirty="0" err="1">
                <a:latin typeface="+mn-ea"/>
              </a:rPr>
              <a:t>검증용</a:t>
            </a:r>
            <a:r>
              <a:rPr lang="ko-KR" altLang="en-US" sz="1300" b="1" dirty="0">
                <a:latin typeface="+mn-ea"/>
              </a:rPr>
              <a:t> 데이터 </a:t>
            </a:r>
            <a:r>
              <a:rPr lang="en-US" altLang="ko-KR" sz="1300" b="1" dirty="0">
                <a:latin typeface="+mn-ea"/>
              </a:rPr>
              <a:t>(Leaderboard </a:t>
            </a:r>
            <a:r>
              <a:rPr lang="ko-KR" altLang="en-US" sz="1300" b="1" dirty="0">
                <a:latin typeface="+mn-ea"/>
              </a:rPr>
              <a:t>용</a:t>
            </a:r>
            <a:r>
              <a:rPr lang="en-US" altLang="ko-KR" sz="1300" b="1" dirty="0">
                <a:latin typeface="+mn-ea"/>
              </a:rPr>
              <a:t>)</a:t>
            </a: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WF ID</a:t>
            </a:r>
            <a:r>
              <a:rPr lang="ko-KR" altLang="en-US" sz="1200" dirty="0">
                <a:latin typeface="+mn-ea"/>
              </a:rPr>
              <a:t>와 연관된 </a:t>
            </a:r>
            <a:r>
              <a:rPr lang="en-US" altLang="ko-KR" sz="1200" dirty="0">
                <a:latin typeface="+mn-ea"/>
              </a:rPr>
              <a:t>Meta </a:t>
            </a:r>
            <a:r>
              <a:rPr lang="ko-KR" altLang="en-US" sz="1200" dirty="0">
                <a:latin typeface="+mn-ea"/>
              </a:rPr>
              <a:t>데이터</a:t>
            </a:r>
            <a:r>
              <a:rPr lang="en-US" altLang="ko-KR" sz="1200" dirty="0">
                <a:latin typeface="+mn-ea"/>
              </a:rPr>
              <a:t>, X</a:t>
            </a:r>
            <a:r>
              <a:rPr lang="ko-KR" altLang="en-US" sz="1200" dirty="0">
                <a:latin typeface="+mn-ea"/>
              </a:rPr>
              <a:t>가 포함</a:t>
            </a:r>
            <a:endParaRPr lang="en-US" altLang="ko-KR" sz="1200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총 </a:t>
            </a:r>
            <a:r>
              <a:rPr lang="en-US" altLang="ko-KR" sz="1200" dirty="0">
                <a:latin typeface="+mn-ea"/>
              </a:rPr>
              <a:t>1990</a:t>
            </a:r>
            <a:r>
              <a:rPr lang="ko-KR" altLang="en-US" sz="1200" dirty="0">
                <a:latin typeface="+mn-ea"/>
              </a:rPr>
              <a:t>개 </a:t>
            </a:r>
            <a:r>
              <a:rPr lang="en-US" altLang="ko-KR" sz="1200" dirty="0">
                <a:latin typeface="+mn-ea"/>
              </a:rPr>
              <a:t>WF, 20577</a:t>
            </a:r>
            <a:r>
              <a:rPr lang="ko-KR" altLang="en-US" sz="1200" dirty="0">
                <a:latin typeface="+mn-ea"/>
              </a:rPr>
              <a:t>개 </a:t>
            </a:r>
            <a:r>
              <a:rPr lang="en-US" altLang="ko-KR" sz="1200" dirty="0">
                <a:latin typeface="+mn-ea"/>
              </a:rPr>
              <a:t>Row</a:t>
            </a: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+mn-ea"/>
              </a:rPr>
              <a:t>test_X</a:t>
            </a:r>
            <a:r>
              <a:rPr lang="en-US" altLang="ko-KR" sz="1300" b="1" dirty="0">
                <a:latin typeface="+mn-ea"/>
              </a:rPr>
              <a:t>: X</a:t>
            </a:r>
            <a:r>
              <a:rPr lang="ko-KR" altLang="en-US" sz="1300" b="1" dirty="0">
                <a:latin typeface="+mn-ea"/>
              </a:rPr>
              <a:t>가 포함된 테스트용 데이터 </a:t>
            </a:r>
            <a:r>
              <a:rPr lang="en-US" altLang="ko-KR" sz="1300" b="1" dirty="0">
                <a:latin typeface="+mn-ea"/>
              </a:rPr>
              <a:t>(</a:t>
            </a:r>
            <a:r>
              <a:rPr lang="ko-KR" altLang="en-US" sz="1300" b="1" dirty="0">
                <a:latin typeface="+mn-ea"/>
              </a:rPr>
              <a:t>최종 제출용</a:t>
            </a:r>
            <a:r>
              <a:rPr lang="en-US" altLang="ko-KR" sz="1300" b="1" dirty="0">
                <a:latin typeface="+mn-ea"/>
              </a:rPr>
              <a:t>)</a:t>
            </a: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WF ID</a:t>
            </a:r>
            <a:r>
              <a:rPr lang="ko-KR" altLang="en-US" sz="1200" dirty="0">
                <a:latin typeface="+mn-ea"/>
              </a:rPr>
              <a:t>와 연관된 </a:t>
            </a:r>
            <a:r>
              <a:rPr lang="en-US" altLang="ko-KR" sz="1200" dirty="0">
                <a:latin typeface="+mn-ea"/>
              </a:rPr>
              <a:t>Meta </a:t>
            </a:r>
            <a:r>
              <a:rPr lang="ko-KR" altLang="en-US" sz="1200" dirty="0">
                <a:latin typeface="+mn-ea"/>
              </a:rPr>
              <a:t>데이터</a:t>
            </a:r>
            <a:r>
              <a:rPr lang="en-US" altLang="ko-KR" sz="1200" dirty="0">
                <a:latin typeface="+mn-ea"/>
              </a:rPr>
              <a:t>, X</a:t>
            </a:r>
            <a:r>
              <a:rPr lang="ko-KR" altLang="en-US" sz="1200" dirty="0">
                <a:latin typeface="+mn-ea"/>
              </a:rPr>
              <a:t>가 포함</a:t>
            </a:r>
            <a:endParaRPr lang="en-US" altLang="ko-KR" sz="1200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총 </a:t>
            </a:r>
            <a:r>
              <a:rPr lang="en-US" altLang="ko-KR" sz="1200" dirty="0">
                <a:latin typeface="+mn-ea"/>
              </a:rPr>
              <a:t>1990</a:t>
            </a:r>
            <a:r>
              <a:rPr lang="ko-KR" altLang="en-US" sz="1200" dirty="0">
                <a:latin typeface="+mn-ea"/>
              </a:rPr>
              <a:t>개 </a:t>
            </a:r>
            <a:r>
              <a:rPr lang="en-US" altLang="ko-KR" sz="1200" dirty="0">
                <a:latin typeface="+mn-ea"/>
              </a:rPr>
              <a:t>WF, 20510</a:t>
            </a:r>
            <a:r>
              <a:rPr lang="ko-KR" altLang="en-US" sz="1200" dirty="0">
                <a:latin typeface="+mn-ea"/>
              </a:rPr>
              <a:t>개 </a:t>
            </a:r>
            <a:r>
              <a:rPr lang="en-US" altLang="ko-KR" sz="1200" dirty="0">
                <a:latin typeface="+mn-ea"/>
              </a:rPr>
              <a:t>Row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97020" y="1262061"/>
            <a:ext cx="4572863" cy="324708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참가자들은 알고리즘 코드와 답안 </a:t>
            </a:r>
            <a:r>
              <a:rPr lang="ko-KR" altLang="en-US" sz="1300" b="1">
                <a:latin typeface="+mn-ea"/>
              </a:rPr>
              <a:t>파일을 제출</a:t>
            </a:r>
            <a:r>
              <a:rPr lang="en-US" altLang="ko-KR" sz="1300" b="1">
                <a:latin typeface="+mn-ea"/>
              </a:rPr>
              <a:t> </a:t>
            </a:r>
            <a:r>
              <a:rPr lang="en-US" altLang="ko-KR" sz="1300" b="1" dirty="0">
                <a:latin typeface="+mn-ea"/>
              </a:rPr>
              <a:t>(Python, R, MATLAB, JAVA</a:t>
            </a:r>
            <a:r>
              <a:rPr lang="ko-KR" altLang="en-US" sz="1300" b="1" dirty="0">
                <a:latin typeface="+mn-ea"/>
              </a:rPr>
              <a:t>만 유효</a:t>
            </a:r>
            <a:r>
              <a:rPr lang="en-US" altLang="ko-KR" sz="1300" b="1" dirty="0">
                <a:latin typeface="+mn-ea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알고리즘 코드는 답안이 공개되지 않은 </a:t>
            </a:r>
            <a:r>
              <a:rPr lang="en-US" altLang="ko-KR" sz="1300" b="1" dirty="0">
                <a:latin typeface="+mn-ea"/>
              </a:rPr>
              <a:t>WF ID</a:t>
            </a:r>
            <a:r>
              <a:rPr lang="ko-KR" altLang="en-US" sz="1300" b="1">
                <a:latin typeface="+mn-ea"/>
              </a:rPr>
              <a:t>에 </a:t>
            </a:r>
            <a:br>
              <a:rPr lang="en-US" altLang="ko-KR" sz="1300" b="1">
                <a:latin typeface="+mn-ea"/>
              </a:rPr>
            </a:br>
            <a:r>
              <a:rPr lang="ko-KR" altLang="en-US" sz="1300" b="1">
                <a:latin typeface="+mn-ea"/>
              </a:rPr>
              <a:t>따른 </a:t>
            </a:r>
            <a:r>
              <a:rPr lang="en-US" altLang="ko-KR" sz="1300" b="1" dirty="0">
                <a:latin typeface="+mn-ea"/>
              </a:rPr>
              <a:t>Defect Test</a:t>
            </a:r>
            <a:r>
              <a:rPr lang="ko-KR" altLang="en-US" sz="1300" b="1" dirty="0">
                <a:latin typeface="+mn-ea"/>
              </a:rPr>
              <a:t>를 예측할 수 있어야 </a:t>
            </a:r>
            <a:r>
              <a:rPr lang="ko-KR" altLang="en-US" sz="1300" b="1">
                <a:latin typeface="+mn-ea"/>
              </a:rPr>
              <a:t>함</a:t>
            </a:r>
            <a:r>
              <a:rPr lang="en-US" altLang="ko-KR" sz="1300" b="1">
                <a:latin typeface="+mn-ea"/>
              </a:rPr>
              <a:t>.</a:t>
            </a:r>
            <a:br>
              <a:rPr lang="en-US" altLang="ko-KR" sz="1300" b="1">
                <a:latin typeface="+mn-ea"/>
              </a:rPr>
            </a:br>
            <a:br>
              <a:rPr lang="en-US" altLang="ko-KR" sz="1400" b="1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br>
              <a:rPr lang="en-US" altLang="ko-KR" sz="1200">
                <a:latin typeface="+mn-ea"/>
              </a:rPr>
            </a:br>
            <a:endParaRPr lang="en-US" altLang="ko-KR" sz="105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+mn-ea"/>
              </a:rPr>
              <a:t>평가기준은 </a:t>
            </a:r>
            <a:r>
              <a:rPr lang="en-US" altLang="ko-KR" sz="1300" b="1" dirty="0">
                <a:latin typeface="+mn-ea"/>
              </a:rPr>
              <a:t>RMSE </a:t>
            </a:r>
            <a:r>
              <a:rPr lang="ko-KR" altLang="en-US" sz="1300" b="1" dirty="0">
                <a:latin typeface="+mn-ea"/>
              </a:rPr>
              <a:t>측정 값임</a:t>
            </a:r>
            <a:endParaRPr lang="en-US" altLang="ko-KR" sz="1300" b="1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심사기준</a:t>
            </a:r>
            <a:endParaRPr lang="en-US" altLang="ko-KR" sz="1300" b="1" dirty="0">
              <a:latin typeface="+mn-ea"/>
            </a:endParaRPr>
          </a:p>
          <a:p>
            <a:pPr marL="685800" lvl="1" indent="-228600">
              <a:spcBef>
                <a:spcPts val="600"/>
              </a:spcBef>
              <a:buAutoNum type="arabicParenR"/>
            </a:pPr>
            <a:r>
              <a:rPr lang="ko-KR" altLang="en-US" sz="1200" b="1">
                <a:latin typeface="+mn-ea"/>
              </a:rPr>
              <a:t>난이도 下</a:t>
            </a:r>
            <a:br>
              <a:rPr lang="en-US" altLang="ko-KR" sz="1200" b="1">
                <a:latin typeface="+mn-ea"/>
              </a:rPr>
            </a:br>
            <a:r>
              <a:rPr lang="en-US" altLang="ko-KR" sz="1200" b="1">
                <a:latin typeface="+mn-ea"/>
              </a:rPr>
              <a:t>  : </a:t>
            </a:r>
            <a:r>
              <a:rPr lang="ko-KR" altLang="en-US" sz="1100">
                <a:latin typeface="+mn-ea"/>
              </a:rPr>
              <a:t>정확성 </a:t>
            </a:r>
            <a:r>
              <a:rPr lang="en-US" altLang="ko-KR" sz="1100" dirty="0">
                <a:latin typeface="+mn-ea"/>
              </a:rPr>
              <a:t>(50%), </a:t>
            </a:r>
            <a:r>
              <a:rPr lang="ko-KR" altLang="en-US" sz="1100" dirty="0">
                <a:latin typeface="+mn-ea"/>
              </a:rPr>
              <a:t>통계적 문제해결 능력 </a:t>
            </a:r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>
                <a:latin typeface="+mn-ea"/>
              </a:rPr>
              <a:t>50%)</a:t>
            </a:r>
          </a:p>
          <a:p>
            <a:pPr marL="685800" lvl="1" indent="-228600">
              <a:buAutoNum type="arabicParenR"/>
            </a:pPr>
            <a:endParaRPr lang="en-US" altLang="ko-KR" sz="1100" b="1">
              <a:latin typeface="+mn-ea"/>
            </a:endParaRPr>
          </a:p>
          <a:p>
            <a:pPr marL="685800" lvl="1" indent="-228600">
              <a:buAutoNum type="arabicParenR"/>
            </a:pPr>
            <a:r>
              <a:rPr lang="ko-KR" altLang="en-US" sz="1200" b="1">
                <a:latin typeface="+mn-ea"/>
              </a:rPr>
              <a:t>난이도 上</a:t>
            </a:r>
            <a:br>
              <a:rPr lang="en-US" altLang="ko-KR" sz="1200" b="1">
                <a:latin typeface="+mn-ea"/>
              </a:rPr>
            </a:br>
            <a:r>
              <a:rPr lang="en-US" altLang="ko-KR" sz="1200" b="1">
                <a:latin typeface="+mn-ea"/>
              </a:rPr>
              <a:t>  : </a:t>
            </a:r>
            <a:r>
              <a:rPr lang="ko-KR" altLang="en-US" sz="1100">
                <a:latin typeface="+mn-ea"/>
              </a:rPr>
              <a:t>정확성 </a:t>
            </a:r>
            <a:r>
              <a:rPr lang="en-US" altLang="ko-KR" sz="1100" dirty="0">
                <a:latin typeface="+mn-ea"/>
              </a:rPr>
              <a:t>(30%), </a:t>
            </a:r>
            <a:r>
              <a:rPr lang="ko-KR" altLang="en-US" sz="1100" dirty="0">
                <a:latin typeface="+mn-ea"/>
              </a:rPr>
              <a:t>통계적 문제해결 능력 </a:t>
            </a:r>
            <a:r>
              <a:rPr lang="en-US" altLang="ko-KR" sz="1100" dirty="0">
                <a:latin typeface="+mn-ea"/>
              </a:rPr>
              <a:t>(70%)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6413" y="3954304"/>
            <a:ext cx="430811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lvl="0" algn="ctr"/>
            <a:r>
              <a:rPr lang="en-US" altLang="ko-KR" sz="1400" b="1" dirty="0">
                <a:solidFill>
                  <a:prstClr val="black"/>
                </a:solidFill>
                <a:latin typeface="+mn-ea"/>
              </a:rPr>
              <a:t>Data 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구성 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난이도 上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</a:rPr>
              <a:t>)</a:t>
            </a:r>
            <a:endParaRPr lang="ko-KR" altLang="en-US" sz="1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8805" y="4378670"/>
            <a:ext cx="4660122" cy="1786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+mn-ea"/>
              </a:rPr>
              <a:t>train_data</a:t>
            </a:r>
            <a:r>
              <a:rPr lang="en-US" altLang="ko-KR" sz="1300" b="1" dirty="0">
                <a:latin typeface="+mn-ea"/>
              </a:rPr>
              <a:t>: X</a:t>
            </a:r>
            <a:r>
              <a:rPr lang="ko-KR" altLang="en-US" sz="1300" b="1" dirty="0">
                <a:latin typeface="+mn-ea"/>
              </a:rPr>
              <a:t>와 </a:t>
            </a:r>
            <a:r>
              <a:rPr lang="en-US" altLang="ko-KR" sz="1300" b="1" dirty="0">
                <a:latin typeface="+mn-ea"/>
              </a:rPr>
              <a:t>Y</a:t>
            </a:r>
            <a:r>
              <a:rPr lang="ko-KR" altLang="en-US" sz="1300" b="1" dirty="0">
                <a:latin typeface="+mn-ea"/>
              </a:rPr>
              <a:t>를 포함한 훈련용 데이터</a:t>
            </a:r>
            <a:endParaRPr lang="en-US" altLang="ko-KR" sz="1300" b="1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Test </a:t>
            </a:r>
            <a:r>
              <a:rPr lang="ko-KR" altLang="en-US" sz="1200" dirty="0">
                <a:latin typeface="+mn-ea"/>
              </a:rPr>
              <a:t>결과 불량 발생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+mn-ea"/>
              </a:rPr>
              <a:t>valid_data</a:t>
            </a:r>
            <a:r>
              <a:rPr lang="en-US" altLang="ko-KR" sz="1300" b="1" dirty="0">
                <a:latin typeface="+mn-ea"/>
              </a:rPr>
              <a:t>: X</a:t>
            </a:r>
            <a:r>
              <a:rPr lang="ko-KR" altLang="en-US" sz="1300" b="1" dirty="0">
                <a:latin typeface="+mn-ea"/>
              </a:rPr>
              <a:t>와 </a:t>
            </a:r>
            <a:r>
              <a:rPr lang="en-US" altLang="ko-KR" sz="1300" b="1" dirty="0">
                <a:latin typeface="+mn-ea"/>
              </a:rPr>
              <a:t>Y</a:t>
            </a:r>
            <a:r>
              <a:rPr lang="ko-KR" altLang="en-US" sz="1300" b="1" dirty="0">
                <a:latin typeface="+mn-ea"/>
              </a:rPr>
              <a:t>를 포함한 </a:t>
            </a:r>
            <a:r>
              <a:rPr lang="ko-KR" altLang="en-US" sz="1300" b="1" dirty="0" err="1">
                <a:latin typeface="+mn-ea"/>
              </a:rPr>
              <a:t>검증용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 err="1">
                <a:latin typeface="+mn-ea"/>
              </a:rPr>
              <a:t>재훈련용</a:t>
            </a:r>
            <a:r>
              <a:rPr lang="ko-KR" altLang="en-US" sz="1300" b="1" dirty="0">
                <a:latin typeface="+mn-ea"/>
              </a:rPr>
              <a:t> 데이터</a:t>
            </a:r>
            <a:endParaRPr lang="en-US" altLang="ko-KR" sz="1300" b="1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Test </a:t>
            </a:r>
            <a:r>
              <a:rPr lang="ko-KR" altLang="en-US" sz="1200" dirty="0">
                <a:latin typeface="+mn-ea"/>
              </a:rPr>
              <a:t>결과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차 불량 발생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u="sng" dirty="0" err="1">
                <a:latin typeface="+mn-ea"/>
              </a:rPr>
              <a:t>장비상태</a:t>
            </a:r>
            <a:r>
              <a:rPr lang="ko-KR" altLang="en-US" sz="1200" u="sng" dirty="0">
                <a:latin typeface="+mn-ea"/>
              </a:rPr>
              <a:t> 변동 발생</a:t>
            </a:r>
            <a:endParaRPr lang="en-US" altLang="ko-KR" sz="1200" u="sng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+mn-ea"/>
              </a:rPr>
              <a:t>test_X</a:t>
            </a:r>
            <a:r>
              <a:rPr lang="en-US" altLang="ko-KR" sz="1300" b="1" dirty="0">
                <a:latin typeface="+mn-ea"/>
              </a:rPr>
              <a:t>: X</a:t>
            </a:r>
            <a:r>
              <a:rPr lang="ko-KR" altLang="en-US" sz="1300" b="1" dirty="0">
                <a:latin typeface="+mn-ea"/>
              </a:rPr>
              <a:t>가 포함된 테스트용 데이터 </a:t>
            </a:r>
            <a:r>
              <a:rPr lang="en-US" altLang="ko-KR" sz="1300" b="1" dirty="0">
                <a:latin typeface="+mn-ea"/>
              </a:rPr>
              <a:t>(Leaderboard </a:t>
            </a:r>
            <a:r>
              <a:rPr lang="ko-KR" altLang="en-US" sz="1300" b="1" dirty="0">
                <a:latin typeface="+mn-ea"/>
              </a:rPr>
              <a:t>및 최종 제출용</a:t>
            </a:r>
            <a:r>
              <a:rPr lang="en-US" altLang="ko-KR" sz="1300" b="1" dirty="0">
                <a:latin typeface="+mn-ea"/>
              </a:rPr>
              <a:t>)</a:t>
            </a: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u="sng" dirty="0">
                <a:latin typeface="+mn-ea"/>
              </a:rPr>
              <a:t>PM</a:t>
            </a:r>
            <a:r>
              <a:rPr lang="ko-KR" altLang="en-US" sz="1200" u="sng" dirty="0">
                <a:latin typeface="+mn-ea"/>
              </a:rPr>
              <a:t>으로 인한 </a:t>
            </a:r>
            <a:r>
              <a:rPr lang="ko-KR" altLang="en-US" sz="1200" u="sng" dirty="0" err="1">
                <a:latin typeface="+mn-ea"/>
              </a:rPr>
              <a:t>장비상태</a:t>
            </a:r>
            <a:r>
              <a:rPr lang="ko-KR" altLang="en-US" sz="1200" u="sng" dirty="0">
                <a:latin typeface="+mn-ea"/>
              </a:rPr>
              <a:t> 변동 발생</a:t>
            </a:r>
            <a:endParaRPr lang="en-US" altLang="ko-KR" sz="1200" u="sng" dirty="0">
              <a:latin typeface="+mn-ea"/>
            </a:endParaRPr>
          </a:p>
          <a:p>
            <a:pPr marL="742950" lvl="1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</p:txBody>
      </p:sp>
      <p:cxnSp>
        <p:nvCxnSpPr>
          <p:cNvPr id="23" name="Straight Connector 115"/>
          <p:cNvCxnSpPr/>
          <p:nvPr/>
        </p:nvCxnSpPr>
        <p:spPr>
          <a:xfrm>
            <a:off x="436401" y="4306660"/>
            <a:ext cx="4308119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438854" y="3356990"/>
            <a:ext cx="4338227" cy="7333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ko-KR" altLang="en-US" sz="1050">
                <a:latin typeface="+mn-ea"/>
              </a:rPr>
              <a:t>예제</a:t>
            </a:r>
            <a:r>
              <a:rPr lang="en-US" altLang="ko-KR" sz="1050">
                <a:latin typeface="+mn-ea"/>
              </a:rPr>
              <a:t>1) train_data</a:t>
            </a:r>
            <a:r>
              <a:rPr lang="ko-KR" altLang="en-US" sz="1050" dirty="0">
                <a:latin typeface="+mn-ea"/>
              </a:rPr>
              <a:t>로 학습한 모형에 </a:t>
            </a:r>
            <a:r>
              <a:rPr lang="en-US" altLang="ko-KR" sz="1050" dirty="0" err="1">
                <a:latin typeface="+mn-ea"/>
              </a:rPr>
              <a:t>valid_data</a:t>
            </a:r>
            <a:r>
              <a:rPr lang="ko-KR" altLang="en-US" sz="1050" dirty="0">
                <a:latin typeface="+mn-ea"/>
              </a:rPr>
              <a:t>에 </a:t>
            </a:r>
            <a:r>
              <a:rPr lang="ko-KR" altLang="en-US" sz="1050">
                <a:latin typeface="+mn-ea"/>
              </a:rPr>
              <a:t>가중치를 두어</a:t>
            </a:r>
            <a:br>
              <a:rPr lang="en-US" altLang="ko-KR" sz="1050">
                <a:latin typeface="+mn-ea"/>
              </a:rPr>
            </a:br>
            <a:r>
              <a:rPr lang="en-US" altLang="ko-KR" sz="1050">
                <a:latin typeface="+mn-ea"/>
              </a:rPr>
              <a:t>         valid_data</a:t>
            </a:r>
            <a:r>
              <a:rPr lang="ko-KR" altLang="en-US" sz="1050" dirty="0">
                <a:latin typeface="+mn-ea"/>
              </a:rPr>
              <a:t>에 대해서만 </a:t>
            </a:r>
            <a:r>
              <a:rPr lang="ko-KR" altLang="en-US" sz="1050" dirty="0" err="1">
                <a:latin typeface="+mn-ea"/>
              </a:rPr>
              <a:t>재학습</a:t>
            </a:r>
            <a:r>
              <a:rPr lang="ko-KR" altLang="en-US" sz="1050" dirty="0">
                <a:latin typeface="+mn-ea"/>
              </a:rPr>
              <a:t> </a:t>
            </a:r>
            <a:r>
              <a:rPr lang="ko-KR" altLang="en-US" sz="1050" b="1">
                <a:latin typeface="+mn-ea"/>
              </a:rPr>
              <a:t>→ </a:t>
            </a:r>
            <a:r>
              <a:rPr lang="en-US" altLang="ko-KR" sz="1050" b="1">
                <a:latin typeface="+mn-ea"/>
              </a:rPr>
              <a:t>O</a:t>
            </a:r>
            <a:br>
              <a:rPr lang="en-US" altLang="ko-KR" sz="1050">
                <a:latin typeface="+mn-ea"/>
              </a:rPr>
            </a:br>
            <a:r>
              <a:rPr lang="ko-KR" altLang="en-US" sz="1050">
                <a:latin typeface="+mn-ea"/>
              </a:rPr>
              <a:t>예제</a:t>
            </a:r>
            <a:r>
              <a:rPr lang="en-US" altLang="ko-KR" sz="1050">
                <a:latin typeface="+mn-ea"/>
              </a:rPr>
              <a:t>2) train_data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X</a:t>
            </a:r>
            <a:r>
              <a:rPr lang="ko-KR" altLang="en-US" sz="1050" dirty="0">
                <a:latin typeface="+mn-ea"/>
              </a:rPr>
              <a:t>의 변동을 감지하여 </a:t>
            </a:r>
            <a:r>
              <a:rPr lang="en-US" altLang="ko-KR" sz="1050" dirty="0">
                <a:latin typeface="+mn-ea"/>
              </a:rPr>
              <a:t>X</a:t>
            </a:r>
            <a:r>
              <a:rPr lang="ko-KR" altLang="en-US" sz="1050">
                <a:latin typeface="+mn-ea"/>
              </a:rPr>
              <a:t>를 재보정후 </a:t>
            </a:r>
            <a:r>
              <a:rPr lang="ko-KR" altLang="en-US" sz="1050" dirty="0">
                <a:latin typeface="+mn-ea"/>
              </a:rPr>
              <a:t>학습 </a:t>
            </a:r>
            <a:r>
              <a:rPr lang="ko-KR" altLang="en-US" sz="1050" b="1">
                <a:latin typeface="+mn-ea"/>
              </a:rPr>
              <a:t>→ </a:t>
            </a:r>
            <a:r>
              <a:rPr lang="en-US" altLang="ko-KR" sz="1050" b="1">
                <a:latin typeface="+mn-ea"/>
              </a:rPr>
              <a:t>O</a:t>
            </a:r>
          </a:p>
          <a:p>
            <a:r>
              <a:rPr lang="ko-KR" altLang="en-US" sz="1050">
                <a:latin typeface="+mn-ea"/>
              </a:rPr>
              <a:t>예제</a:t>
            </a:r>
            <a:r>
              <a:rPr lang="en-US" altLang="ko-KR" sz="1050">
                <a:latin typeface="+mn-ea"/>
              </a:rPr>
              <a:t>3) train_data</a:t>
            </a:r>
            <a:r>
              <a:rPr lang="ko-KR" altLang="en-US" sz="1050" dirty="0">
                <a:latin typeface="+mn-ea"/>
              </a:rPr>
              <a:t>와 </a:t>
            </a:r>
            <a:r>
              <a:rPr lang="en-US" altLang="ko-KR" sz="1050" dirty="0" err="1">
                <a:latin typeface="+mn-ea"/>
              </a:rPr>
              <a:t>valid_data</a:t>
            </a:r>
            <a:r>
              <a:rPr lang="ko-KR" altLang="en-US" sz="1050" dirty="0">
                <a:latin typeface="+mn-ea"/>
              </a:rPr>
              <a:t>를 함께 학습 </a:t>
            </a:r>
            <a:r>
              <a:rPr lang="ko-KR" altLang="en-US" sz="1050" b="1">
                <a:solidFill>
                  <a:srgbClr val="FF0000"/>
                </a:solidFill>
                <a:latin typeface="+mn-ea"/>
              </a:rPr>
              <a:t>→ </a:t>
            </a:r>
            <a:r>
              <a:rPr lang="en-US" altLang="ko-KR" sz="1050" b="1">
                <a:solidFill>
                  <a:srgbClr val="FF0000"/>
                </a:solidFill>
                <a:latin typeface="+mn-ea"/>
              </a:rPr>
              <a:t>X</a:t>
            </a:r>
            <a:endParaRPr lang="en-US" altLang="ko-KR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81428" y="2436011"/>
            <a:ext cx="4395654" cy="84896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ko-KR" sz="1200" b="1">
                <a:latin typeface="+mn-ea"/>
              </a:rPr>
              <a:t>※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난이도 上 문제는 </a:t>
            </a:r>
            <a:r>
              <a:rPr lang="en-US" altLang="ko-KR" sz="1200" dirty="0" err="1">
                <a:latin typeface="+mn-ea"/>
              </a:rPr>
              <a:t>valid_data</a:t>
            </a:r>
            <a:r>
              <a:rPr lang="ko-KR" altLang="en-US" sz="1200" dirty="0">
                <a:latin typeface="+mn-ea"/>
              </a:rPr>
              <a:t>에서 </a:t>
            </a:r>
            <a:r>
              <a:rPr lang="ko-KR" altLang="en-US" sz="1200">
                <a:latin typeface="+mn-ea"/>
              </a:rPr>
              <a:t>발생하는 </a:t>
            </a:r>
            <a:br>
              <a:rPr lang="en-US" altLang="ko-KR" sz="1200">
                <a:latin typeface="+mn-ea"/>
              </a:rPr>
            </a:br>
            <a:r>
              <a:rPr lang="ko-KR" altLang="en-US" sz="1200" b="1" u="sng">
                <a:latin typeface="+mn-ea"/>
              </a:rPr>
              <a:t>변동에 </a:t>
            </a:r>
            <a:r>
              <a:rPr lang="ko-KR" altLang="en-US" sz="1200" b="1" u="sng" dirty="0">
                <a:latin typeface="+mn-ea"/>
              </a:rPr>
              <a:t>대한 보정 </a:t>
            </a:r>
            <a:r>
              <a:rPr lang="ko-KR" altLang="en-US" sz="1200" b="1" u="sng" dirty="0" err="1">
                <a:latin typeface="+mn-ea"/>
              </a:rPr>
              <a:t>재학습</a:t>
            </a:r>
            <a:r>
              <a:rPr lang="ko-KR" altLang="en-US" sz="1200" b="1" u="sng" dirty="0">
                <a:latin typeface="+mn-ea"/>
              </a:rPr>
              <a:t> 알고리즘 등이 </a:t>
            </a:r>
            <a:r>
              <a:rPr lang="ko-KR" altLang="en-US" sz="1200" b="1" u="sng">
                <a:latin typeface="+mn-ea"/>
              </a:rPr>
              <a:t>적용</a:t>
            </a:r>
            <a:r>
              <a:rPr lang="ko-KR" altLang="en-US" sz="1200">
                <a:latin typeface="+mn-ea"/>
              </a:rPr>
              <a:t>되어야 함</a:t>
            </a:r>
            <a:r>
              <a:rPr lang="en-US" altLang="ko-KR" sz="1200">
                <a:latin typeface="+mn-ea"/>
              </a:rPr>
              <a:t>.</a:t>
            </a:r>
            <a:br>
              <a:rPr lang="en-US" altLang="ko-KR" sz="1200">
                <a:latin typeface="+mn-ea"/>
              </a:rPr>
            </a:b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단순히 </a:t>
            </a:r>
            <a:r>
              <a:rPr lang="en-US" altLang="ko-KR" sz="1200" b="1" dirty="0" err="1">
                <a:solidFill>
                  <a:srgbClr val="C00000"/>
                </a:solidFill>
                <a:latin typeface="+mn-ea"/>
              </a:rPr>
              <a:t>valid_data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를 </a:t>
            </a:r>
            <a:r>
              <a:rPr lang="en-US" altLang="ko-KR" sz="1200" b="1" dirty="0" err="1">
                <a:solidFill>
                  <a:srgbClr val="C00000"/>
                </a:solidFill>
                <a:latin typeface="+mn-ea"/>
              </a:rPr>
              <a:t>train_data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에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포함하여 재학습 </a:t>
            </a:r>
            <a:br>
              <a:rPr lang="en-US" altLang="ko-KR" sz="1200" b="1">
                <a:solidFill>
                  <a:srgbClr val="C00000"/>
                </a:solidFill>
                <a:latin typeface="+mn-ea"/>
              </a:rPr>
            </a:b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하는 경우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,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0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점 처리</a:t>
            </a:r>
            <a:endParaRPr lang="ko-KR" altLang="en-US" sz="11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876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035"/>
          <p:cNvSpPr txBox="1">
            <a:spLocks noChangeArrowheads="1"/>
          </p:cNvSpPr>
          <p:nvPr/>
        </p:nvSpPr>
        <p:spPr bwMode="auto">
          <a:xfrm>
            <a:off x="506413" y="156622"/>
            <a:ext cx="7900987" cy="35137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  <a:defRPr/>
            </a:pPr>
            <a:r>
              <a:rPr lang="en-US" altLang="ko-KR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3-1. Data </a:t>
            </a:r>
            <a:r>
              <a:rPr lang="ko-KR" altLang="en-US" sz="1700" b="1" kern="0" dirty="0" err="1">
                <a:solidFill>
                  <a:srgbClr val="000000"/>
                </a:solidFill>
                <a:latin typeface="Trebuchet MS" panose="020B0603020202020204" pitchFamily="34" charset="0"/>
              </a:rPr>
              <a:t>상세구성</a:t>
            </a:r>
            <a:r>
              <a:rPr lang="ko-KR" altLang="en-US" sz="1700" b="1" kern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700" b="1" kern="0" dirty="0">
                <a:solidFill>
                  <a:srgbClr val="000000"/>
                </a:solidFill>
                <a:latin typeface="Trebuchet MS" panose="020B0603020202020204" pitchFamily="34" charset="0"/>
              </a:rPr>
              <a:t>– </a:t>
            </a:r>
            <a:r>
              <a:rPr lang="ko-KR" altLang="en-US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난이도 下</a:t>
            </a:r>
            <a:endParaRPr lang="ko-KR" altLang="en-US" sz="1700" b="1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0390" y="620610"/>
            <a:ext cx="8785219" cy="1786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train_data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valid_X</a:t>
            </a:r>
            <a:r>
              <a:rPr lang="en-US" altLang="ko-KR" sz="1200" dirty="0">
                <a:latin typeface="+mn-ea"/>
              </a:rPr>
              <a:t> /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test_X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err="1">
                <a:latin typeface="+mn-ea"/>
              </a:rPr>
              <a:t>train_data</a:t>
            </a:r>
            <a:r>
              <a:rPr lang="ko-KR" altLang="en-US" sz="1200" dirty="0">
                <a:latin typeface="+mn-ea"/>
              </a:rPr>
              <a:t>와 동일하나 </a:t>
            </a:r>
            <a:r>
              <a:rPr lang="en-US" altLang="ko-KR" sz="1200" dirty="0">
                <a:latin typeface="+mn-ea"/>
              </a:rPr>
              <a:t>C65</a:t>
            </a:r>
            <a:r>
              <a:rPr lang="ko-KR" altLang="en-US" sz="1200" dirty="0">
                <a:latin typeface="+mn-ea"/>
              </a:rPr>
              <a:t>는 제외됨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단</a:t>
            </a:r>
            <a:r>
              <a:rPr lang="en-US" altLang="ko-KR" sz="1200" dirty="0">
                <a:latin typeface="+mn-ea"/>
              </a:rPr>
              <a:t>, Column </a:t>
            </a:r>
            <a:r>
              <a:rPr lang="ko-KR" altLang="en-US" sz="1200" dirty="0">
                <a:latin typeface="+mn-ea"/>
              </a:rPr>
              <a:t>순서는 </a:t>
            </a:r>
            <a:r>
              <a:rPr lang="en-US" altLang="ko-KR" sz="1200" dirty="0" err="1">
                <a:latin typeface="+mn-ea"/>
              </a:rPr>
              <a:t>train_data</a:t>
            </a:r>
            <a:r>
              <a:rPr lang="ko-KR" altLang="en-US" sz="1200" dirty="0">
                <a:latin typeface="+mn-ea"/>
              </a:rPr>
              <a:t>와 상이하므로 전처리 필요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valid_Y_problem</a:t>
            </a:r>
            <a:r>
              <a:rPr lang="en-US" altLang="ko-KR" sz="1200" dirty="0">
                <a:latin typeface="+mn-ea"/>
              </a:rPr>
              <a:t> / </a:t>
            </a:r>
            <a:r>
              <a:rPr lang="en-US" altLang="ko-KR" sz="1200" dirty="0" err="1">
                <a:latin typeface="+mn-ea"/>
              </a:rPr>
              <a:t>test_Y_problem</a:t>
            </a:r>
            <a:r>
              <a:rPr lang="en-US" altLang="ko-KR" sz="1200" dirty="0">
                <a:latin typeface="+mn-ea"/>
              </a:rPr>
              <a:t>: C64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C65</a:t>
            </a:r>
            <a:r>
              <a:rPr lang="ko-KR" altLang="en-US" sz="1200" dirty="0">
                <a:latin typeface="+mn-ea"/>
              </a:rPr>
              <a:t>로 구성되어 있으며</a:t>
            </a:r>
            <a:r>
              <a:rPr lang="en-US" altLang="ko-KR" sz="1200" dirty="0">
                <a:latin typeface="+mn-ea"/>
              </a:rPr>
              <a:t>, C65</a:t>
            </a:r>
            <a:r>
              <a:rPr lang="ko-KR" altLang="en-US" sz="1200" dirty="0">
                <a:latin typeface="+mn-ea"/>
              </a:rPr>
              <a:t>에 </a:t>
            </a:r>
            <a:r>
              <a:rPr lang="ko-KR" altLang="en-US" sz="1200" dirty="0" err="1">
                <a:latin typeface="+mn-ea"/>
              </a:rPr>
              <a:t>예측값을</a:t>
            </a:r>
            <a:r>
              <a:rPr lang="ko-KR" altLang="en-US" sz="1200" dirty="0">
                <a:latin typeface="+mn-ea"/>
              </a:rPr>
              <a:t> 넣어 제출하면 됨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Domain Knowledge </a:t>
            </a:r>
            <a:r>
              <a:rPr lang="ko-KR" altLang="en-US" sz="1200" dirty="0">
                <a:latin typeface="+mn-ea"/>
              </a:rPr>
              <a:t>반영을 방지하기 위하여 </a:t>
            </a:r>
            <a:r>
              <a:rPr lang="en-US" altLang="ko-KR" sz="1200" dirty="0">
                <a:latin typeface="+mn-ea"/>
              </a:rPr>
              <a:t>Column </a:t>
            </a:r>
            <a:r>
              <a:rPr lang="ko-KR" altLang="en-US" sz="1200" dirty="0">
                <a:latin typeface="+mn-ea"/>
              </a:rPr>
              <a:t>명 및 내부 데이터는 </a:t>
            </a:r>
            <a:r>
              <a:rPr lang="ko-KR" altLang="en-US" sz="1200" dirty="0" err="1">
                <a:latin typeface="+mn-ea"/>
              </a:rPr>
              <a:t>비식별화</a:t>
            </a:r>
            <a:r>
              <a:rPr lang="ko-KR" altLang="en-US" sz="1200" dirty="0">
                <a:latin typeface="+mn-ea"/>
              </a:rPr>
              <a:t> 처리됨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Column</a:t>
            </a:r>
          </a:p>
          <a:p>
            <a:pPr latinLnBrk="0">
              <a:lnSpc>
                <a:spcPct val="130000"/>
              </a:lnSpc>
              <a:spcBef>
                <a:spcPts val="300"/>
              </a:spcBef>
            </a:pPr>
            <a:endParaRPr lang="en-US" altLang="ko-KR" sz="1200" dirty="0"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651000" y="957705"/>
          <a:ext cx="660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27710771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90650577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93926062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50019902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11507962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57837065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757676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38591879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69404103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52617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8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459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C64_0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681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48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118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C64_0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681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71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4181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8804" y="4509150"/>
            <a:ext cx="4464620" cy="2160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0000FF"/>
                </a:solidFill>
              </a:rPr>
              <a:t>C64</a:t>
            </a:r>
            <a:r>
              <a:rPr lang="en-US" altLang="ko-KR" sz="1100" dirty="0"/>
              <a:t>, C34, C35, C38: </a:t>
            </a:r>
            <a:r>
              <a:rPr lang="en-US" altLang="ko-KR" sz="1100" b="1" dirty="0">
                <a:solidFill>
                  <a:srgbClr val="0000FF"/>
                </a:solidFill>
              </a:rPr>
              <a:t>WF ID. C64</a:t>
            </a:r>
            <a:r>
              <a:rPr lang="ko-KR" altLang="en-US" sz="1100" b="1" dirty="0">
                <a:solidFill>
                  <a:srgbClr val="0000FF"/>
                </a:solidFill>
              </a:rPr>
              <a:t>를 기준으로 보면 됨</a:t>
            </a:r>
            <a:endParaRPr lang="en-US" altLang="ko-KR" sz="1100" b="1" dirty="0">
              <a:solidFill>
                <a:srgbClr val="0000FF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C6, C23, C30: Recipe ID. C6</a:t>
            </a:r>
            <a:r>
              <a:rPr lang="ko-KR" altLang="en-US" sz="1100" dirty="0"/>
              <a:t>을 기준으로 보면 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C7, C36: </a:t>
            </a:r>
            <a:r>
              <a:rPr lang="ko-KR" altLang="en-US" sz="1100" dirty="0"/>
              <a:t>공정 </a:t>
            </a:r>
            <a:r>
              <a:rPr lang="en-US" altLang="ko-KR" sz="1100" dirty="0"/>
              <a:t>Step </a:t>
            </a:r>
            <a:r>
              <a:rPr lang="ko-KR" altLang="en-US" sz="1100" dirty="0"/>
              <a:t>번호</a:t>
            </a:r>
            <a:r>
              <a:rPr lang="en-US" altLang="ko-KR" sz="1100" dirty="0"/>
              <a:t>. C7</a:t>
            </a:r>
            <a:r>
              <a:rPr lang="ko-KR" altLang="en-US" sz="1100" dirty="0"/>
              <a:t>을 기준으로 보면 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C10: </a:t>
            </a:r>
            <a:r>
              <a:rPr lang="ko-KR" altLang="en-US" sz="1100" dirty="0"/>
              <a:t>데이터 </a:t>
            </a:r>
            <a:r>
              <a:rPr lang="ko-KR" altLang="en-US" sz="1100" dirty="0" err="1"/>
              <a:t>취득시간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C14: </a:t>
            </a:r>
            <a:r>
              <a:rPr lang="ko-KR" altLang="en-US" sz="1100" dirty="0"/>
              <a:t>장비 관련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C20, C21, C22: Lot ID. C20</a:t>
            </a:r>
            <a:r>
              <a:rPr lang="ko-KR" altLang="en-US" sz="1100" dirty="0"/>
              <a:t>을 기준으로 보면 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C24: Chamber </a:t>
            </a:r>
            <a:r>
              <a:rPr lang="ko-KR" altLang="en-US" sz="1100" dirty="0"/>
              <a:t>구분 인자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C26, C28, C29, C37: </a:t>
            </a:r>
            <a:r>
              <a:rPr lang="ko-KR" altLang="en-US" sz="1100" dirty="0"/>
              <a:t>제외</a:t>
            </a:r>
            <a:endParaRPr lang="en-US" altLang="ko-KR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4458083" y="4509150"/>
            <a:ext cx="4464620" cy="2160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C33: PM time</a:t>
            </a:r>
            <a:r>
              <a:rPr lang="ko-KR" altLang="en-US" sz="1100" dirty="0"/>
              <a:t>을 알려주는 변수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C39: </a:t>
            </a:r>
            <a:r>
              <a:rPr lang="ko-KR" altLang="en-US" sz="1100" dirty="0"/>
              <a:t>공정 </a:t>
            </a:r>
            <a:r>
              <a:rPr lang="en-US" altLang="ko-KR" sz="1100" dirty="0"/>
              <a:t>step </a:t>
            </a:r>
            <a:r>
              <a:rPr lang="ko-KR" altLang="en-US" sz="1100" dirty="0"/>
              <a:t>시작 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C40: </a:t>
            </a:r>
            <a:r>
              <a:rPr lang="ko-KR" altLang="en-US" sz="1100" dirty="0"/>
              <a:t>데이터 수집 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C41: Step </a:t>
            </a:r>
            <a:r>
              <a:rPr lang="ko-KR" altLang="en-US" sz="1100" dirty="0"/>
              <a:t>내 경과 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0000FF"/>
                </a:solidFill>
              </a:rPr>
              <a:t>C65: Y</a:t>
            </a:r>
            <a:r>
              <a:rPr lang="ko-KR" altLang="en-US" sz="1100" b="1" dirty="0">
                <a:solidFill>
                  <a:srgbClr val="0000FF"/>
                </a:solidFill>
              </a:rPr>
              <a:t>에 해당하는 변수</a:t>
            </a:r>
            <a:r>
              <a:rPr lang="en-US" altLang="ko-KR" sz="1100" b="1" dirty="0">
                <a:solidFill>
                  <a:srgbClr val="0000FF"/>
                </a:solidFill>
              </a:rPr>
              <a:t>. Defect Test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rgbClr val="0000FF"/>
                </a:solidFill>
              </a:rPr>
              <a:t>그 외 나머지</a:t>
            </a:r>
            <a:r>
              <a:rPr lang="en-US" altLang="ko-KR" sz="1100" b="1" dirty="0">
                <a:solidFill>
                  <a:srgbClr val="0000FF"/>
                </a:solidFill>
              </a:rPr>
              <a:t>: X</a:t>
            </a:r>
            <a:r>
              <a:rPr lang="ko-KR" altLang="en-US" sz="1100" b="1" dirty="0">
                <a:solidFill>
                  <a:srgbClr val="0000FF"/>
                </a:solidFill>
              </a:rPr>
              <a:t>에 해당하는 변수들</a:t>
            </a:r>
            <a:r>
              <a:rPr lang="en-US" altLang="ko-KR" sz="1100" b="1" dirty="0">
                <a:solidFill>
                  <a:srgbClr val="0000FF"/>
                </a:solidFill>
              </a:rPr>
              <a:t>. FDC</a:t>
            </a:r>
          </a:p>
        </p:txBody>
      </p:sp>
    </p:spTree>
    <p:extLst>
      <p:ext uri="{BB962C8B-B14F-4D97-AF65-F5344CB8AC3E}">
        <p14:creationId xmlns:p14="http://schemas.microsoft.com/office/powerpoint/2010/main" val="178227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035"/>
          <p:cNvSpPr txBox="1">
            <a:spLocks noChangeArrowheads="1"/>
          </p:cNvSpPr>
          <p:nvPr/>
        </p:nvSpPr>
        <p:spPr bwMode="auto">
          <a:xfrm>
            <a:off x="506413" y="156622"/>
            <a:ext cx="7900987" cy="35137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  <a:defRPr/>
            </a:pPr>
            <a:r>
              <a:rPr lang="en-US" altLang="ko-KR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3-2. Data </a:t>
            </a:r>
            <a:r>
              <a:rPr lang="ko-KR" altLang="en-US" sz="1700" b="1" kern="0" dirty="0" err="1">
                <a:solidFill>
                  <a:srgbClr val="000000"/>
                </a:solidFill>
                <a:latin typeface="Trebuchet MS" panose="020B0603020202020204" pitchFamily="34" charset="0"/>
              </a:rPr>
              <a:t>상세구성</a:t>
            </a:r>
            <a:r>
              <a:rPr lang="ko-KR" altLang="en-US" sz="1700" b="1" kern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700" b="1" kern="0" dirty="0">
                <a:solidFill>
                  <a:srgbClr val="000000"/>
                </a:solidFill>
                <a:latin typeface="Trebuchet MS" panose="020B0603020202020204" pitchFamily="34" charset="0"/>
              </a:rPr>
              <a:t>– </a:t>
            </a:r>
            <a:r>
              <a:rPr lang="ko-KR" altLang="en-US" sz="1700" b="1" kern="0">
                <a:solidFill>
                  <a:srgbClr val="000000"/>
                </a:solidFill>
                <a:latin typeface="Trebuchet MS" panose="020B0603020202020204" pitchFamily="34" charset="0"/>
              </a:rPr>
              <a:t>난이도 上</a:t>
            </a:r>
            <a:endParaRPr lang="ko-KR" altLang="en-US" sz="1700" b="1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0390" y="620610"/>
            <a:ext cx="8785219" cy="1786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train_data</a:t>
            </a:r>
            <a:r>
              <a:rPr lang="en-US" altLang="ko-KR" sz="1200" dirty="0">
                <a:latin typeface="+mn-ea"/>
              </a:rPr>
              <a:t> / </a:t>
            </a:r>
            <a:r>
              <a:rPr lang="en-US" altLang="ko-KR" sz="1200" dirty="0" err="1">
                <a:latin typeface="+mn-ea"/>
              </a:rPr>
              <a:t>valid_data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test_X</a:t>
            </a:r>
            <a:r>
              <a:rPr lang="en-US" altLang="ko-KR" sz="1200" dirty="0">
                <a:latin typeface="+mn-ea"/>
              </a:rPr>
              <a:t>: train/</a:t>
            </a:r>
            <a:r>
              <a:rPr lang="en-US" altLang="ko-KR" sz="1200" dirty="0" err="1">
                <a:latin typeface="+mn-ea"/>
              </a:rPr>
              <a:t>valid_data</a:t>
            </a:r>
            <a:r>
              <a:rPr lang="ko-KR" altLang="en-US" sz="1200" dirty="0">
                <a:latin typeface="+mn-ea"/>
              </a:rPr>
              <a:t>와 동일하나 </a:t>
            </a:r>
            <a:r>
              <a:rPr lang="en-US" altLang="ko-KR" sz="1200" dirty="0">
                <a:latin typeface="+mn-ea"/>
              </a:rPr>
              <a:t>C65</a:t>
            </a:r>
            <a:r>
              <a:rPr lang="ko-KR" altLang="en-US" sz="1200" dirty="0">
                <a:latin typeface="+mn-ea"/>
              </a:rPr>
              <a:t>는 제외됨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단</a:t>
            </a:r>
            <a:r>
              <a:rPr lang="en-US" altLang="ko-KR" sz="1200" dirty="0">
                <a:latin typeface="+mn-ea"/>
              </a:rPr>
              <a:t>, Column </a:t>
            </a:r>
            <a:r>
              <a:rPr lang="ko-KR" altLang="en-US" sz="1200" dirty="0">
                <a:latin typeface="+mn-ea"/>
              </a:rPr>
              <a:t>순서는 </a:t>
            </a:r>
            <a:r>
              <a:rPr lang="en-US" altLang="ko-KR" sz="1200" dirty="0">
                <a:latin typeface="+mn-ea"/>
              </a:rPr>
              <a:t>train/</a:t>
            </a:r>
            <a:r>
              <a:rPr lang="en-US" altLang="ko-KR" sz="1200" dirty="0" err="1">
                <a:latin typeface="+mn-ea"/>
              </a:rPr>
              <a:t>valid_data</a:t>
            </a:r>
            <a:r>
              <a:rPr lang="ko-KR" altLang="en-US" sz="1200" dirty="0">
                <a:latin typeface="+mn-ea"/>
              </a:rPr>
              <a:t>와 상이하므로 전처리 필요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test_Y_problem</a:t>
            </a:r>
            <a:r>
              <a:rPr lang="en-US" altLang="ko-KR" sz="1200" dirty="0">
                <a:latin typeface="+mn-ea"/>
              </a:rPr>
              <a:t>: C64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C65</a:t>
            </a:r>
            <a:r>
              <a:rPr lang="ko-KR" altLang="en-US" sz="1200" dirty="0">
                <a:latin typeface="+mn-ea"/>
              </a:rPr>
              <a:t>로 구성되어 있으며</a:t>
            </a:r>
            <a:r>
              <a:rPr lang="en-US" altLang="ko-KR" sz="1200" dirty="0">
                <a:latin typeface="+mn-ea"/>
              </a:rPr>
              <a:t>, C65</a:t>
            </a:r>
            <a:r>
              <a:rPr lang="ko-KR" altLang="en-US" sz="1200" dirty="0">
                <a:latin typeface="+mn-ea"/>
              </a:rPr>
              <a:t>에 </a:t>
            </a:r>
            <a:r>
              <a:rPr lang="ko-KR" altLang="en-US" sz="1200" dirty="0" err="1">
                <a:latin typeface="+mn-ea"/>
              </a:rPr>
              <a:t>예측값을</a:t>
            </a:r>
            <a:r>
              <a:rPr lang="ko-KR" altLang="en-US" sz="1200" dirty="0">
                <a:latin typeface="+mn-ea"/>
              </a:rPr>
              <a:t> 넣어 제출하면 됨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Domain Knowledge </a:t>
            </a:r>
            <a:r>
              <a:rPr lang="ko-KR" altLang="en-US" sz="1200" dirty="0">
                <a:latin typeface="+mn-ea"/>
              </a:rPr>
              <a:t>반영을 방지하기 위하여 </a:t>
            </a:r>
            <a:r>
              <a:rPr lang="en-US" altLang="ko-KR" sz="1200" dirty="0">
                <a:latin typeface="+mn-ea"/>
              </a:rPr>
              <a:t>Column </a:t>
            </a:r>
            <a:r>
              <a:rPr lang="ko-KR" altLang="en-US" sz="1200" dirty="0">
                <a:latin typeface="+mn-ea"/>
              </a:rPr>
              <a:t>명 및 내부 데이터는 </a:t>
            </a:r>
            <a:r>
              <a:rPr lang="ko-KR" altLang="en-US" sz="1200" dirty="0" err="1">
                <a:latin typeface="+mn-ea"/>
              </a:rPr>
              <a:t>비식별화</a:t>
            </a:r>
            <a:r>
              <a:rPr lang="ko-KR" altLang="en-US" sz="1200" dirty="0">
                <a:latin typeface="+mn-ea"/>
              </a:rPr>
              <a:t> 처리됨</a:t>
            </a: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285750" indent="-285750" latinLnBrk="0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Column</a:t>
            </a:r>
          </a:p>
          <a:p>
            <a:pPr latinLnBrk="0">
              <a:lnSpc>
                <a:spcPct val="130000"/>
              </a:lnSpc>
              <a:spcBef>
                <a:spcPts val="300"/>
              </a:spcBef>
            </a:pPr>
            <a:endParaRPr lang="en-US" altLang="ko-KR" sz="1200" dirty="0"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651000" y="957705"/>
          <a:ext cx="660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27710771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90650577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93926062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50019902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11507962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57837065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757676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38591879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69404103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52617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8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459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C64_0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681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48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118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C64_0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681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71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…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4181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8804" y="4509150"/>
            <a:ext cx="4464620" cy="2160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0000FF"/>
                </a:solidFill>
              </a:rPr>
              <a:t>C64</a:t>
            </a:r>
            <a:r>
              <a:rPr lang="en-US" altLang="ko-KR" sz="1100" dirty="0"/>
              <a:t>, C34, C35, C38: </a:t>
            </a:r>
            <a:r>
              <a:rPr lang="en-US" altLang="ko-KR" sz="1100" b="1" dirty="0">
                <a:solidFill>
                  <a:srgbClr val="0000FF"/>
                </a:solidFill>
              </a:rPr>
              <a:t>WF ID. C64</a:t>
            </a:r>
            <a:r>
              <a:rPr lang="ko-KR" altLang="en-US" sz="1100" b="1" dirty="0">
                <a:solidFill>
                  <a:srgbClr val="0000FF"/>
                </a:solidFill>
              </a:rPr>
              <a:t>를 기준으로 보면 됨</a:t>
            </a:r>
            <a:endParaRPr lang="en-US" altLang="ko-KR" sz="1100" b="1" dirty="0">
              <a:solidFill>
                <a:srgbClr val="0000FF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C6, C23, C30: Recipe ID. C6</a:t>
            </a:r>
            <a:r>
              <a:rPr lang="ko-KR" altLang="en-US" sz="1100" dirty="0"/>
              <a:t>을 기준으로 보면 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C7, C36: </a:t>
            </a:r>
            <a:r>
              <a:rPr lang="ko-KR" altLang="en-US" sz="1100" dirty="0"/>
              <a:t>공정 </a:t>
            </a:r>
            <a:r>
              <a:rPr lang="en-US" altLang="ko-KR" sz="1100" dirty="0"/>
              <a:t>Step </a:t>
            </a:r>
            <a:r>
              <a:rPr lang="ko-KR" altLang="en-US" sz="1100" dirty="0"/>
              <a:t>번호</a:t>
            </a:r>
            <a:r>
              <a:rPr lang="en-US" altLang="ko-KR" sz="1100" dirty="0"/>
              <a:t>. C7</a:t>
            </a:r>
            <a:r>
              <a:rPr lang="ko-KR" altLang="en-US" sz="1100" dirty="0"/>
              <a:t>을 기준으로 보면 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C10: </a:t>
            </a:r>
            <a:r>
              <a:rPr lang="ko-KR" altLang="en-US" sz="1100" dirty="0"/>
              <a:t>데이터 </a:t>
            </a:r>
            <a:r>
              <a:rPr lang="ko-KR" altLang="en-US" sz="1100" dirty="0" err="1"/>
              <a:t>취득시간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C14: </a:t>
            </a:r>
            <a:r>
              <a:rPr lang="ko-KR" altLang="en-US" sz="1100" dirty="0"/>
              <a:t>장비 관련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C20, C21, C22: Lot ID. C20</a:t>
            </a:r>
            <a:r>
              <a:rPr lang="ko-KR" altLang="en-US" sz="1100" dirty="0"/>
              <a:t>을 기준으로 보면 됨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C24: Chamber </a:t>
            </a:r>
            <a:r>
              <a:rPr lang="ko-KR" altLang="en-US" sz="1100" dirty="0"/>
              <a:t>구분 인자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C26, C28, C29, C37: </a:t>
            </a:r>
            <a:r>
              <a:rPr lang="ko-KR" altLang="en-US" sz="1100" dirty="0"/>
              <a:t>제외</a:t>
            </a:r>
            <a:endParaRPr lang="en-US" altLang="ko-KR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4458083" y="4509150"/>
            <a:ext cx="4464620" cy="2160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0000FF"/>
                </a:solidFill>
              </a:rPr>
              <a:t>C33: PM time</a:t>
            </a:r>
            <a:r>
              <a:rPr lang="ko-KR" altLang="en-US" sz="1100" b="1" dirty="0">
                <a:solidFill>
                  <a:srgbClr val="0000FF"/>
                </a:solidFill>
              </a:rPr>
              <a:t>을 알려주는 변수</a:t>
            </a:r>
            <a:endParaRPr lang="en-US" altLang="ko-KR" sz="1100" b="1" dirty="0">
              <a:solidFill>
                <a:srgbClr val="0000FF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C39: </a:t>
            </a:r>
            <a:r>
              <a:rPr lang="ko-KR" altLang="en-US" sz="1100" dirty="0"/>
              <a:t>공정 </a:t>
            </a:r>
            <a:r>
              <a:rPr lang="en-US" altLang="ko-KR" sz="1100" dirty="0"/>
              <a:t>step </a:t>
            </a:r>
            <a:r>
              <a:rPr lang="ko-KR" altLang="en-US" sz="1100" dirty="0"/>
              <a:t>시작 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C40: </a:t>
            </a:r>
            <a:r>
              <a:rPr lang="ko-KR" altLang="en-US" sz="1100" dirty="0"/>
              <a:t>데이터 수집 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C41: Step </a:t>
            </a:r>
            <a:r>
              <a:rPr lang="ko-KR" altLang="en-US" sz="1100" dirty="0"/>
              <a:t>내 경과 시간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0000FF"/>
                </a:solidFill>
              </a:rPr>
              <a:t>C65: Y</a:t>
            </a:r>
            <a:r>
              <a:rPr lang="ko-KR" altLang="en-US" sz="1100" b="1" dirty="0">
                <a:solidFill>
                  <a:srgbClr val="0000FF"/>
                </a:solidFill>
              </a:rPr>
              <a:t>에 해당하는 변수</a:t>
            </a:r>
            <a:r>
              <a:rPr lang="en-US" altLang="ko-KR" sz="1100" b="1" dirty="0">
                <a:solidFill>
                  <a:srgbClr val="0000FF"/>
                </a:solidFill>
              </a:rPr>
              <a:t>. Defect Test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rgbClr val="0000FF"/>
                </a:solidFill>
              </a:rPr>
              <a:t>그 외 나머지</a:t>
            </a:r>
            <a:r>
              <a:rPr lang="en-US" altLang="ko-KR" sz="1100" b="1" dirty="0">
                <a:solidFill>
                  <a:srgbClr val="0000FF"/>
                </a:solidFill>
              </a:rPr>
              <a:t>: X</a:t>
            </a:r>
            <a:r>
              <a:rPr lang="ko-KR" altLang="en-US" sz="1100" b="1" dirty="0">
                <a:solidFill>
                  <a:srgbClr val="0000FF"/>
                </a:solidFill>
              </a:rPr>
              <a:t>에 해당하는 변수들</a:t>
            </a:r>
            <a:r>
              <a:rPr lang="en-US" altLang="ko-KR" sz="1100" b="1" dirty="0">
                <a:solidFill>
                  <a:srgbClr val="0000FF"/>
                </a:solidFill>
              </a:rPr>
              <a:t>. FDC</a:t>
            </a:r>
          </a:p>
        </p:txBody>
      </p:sp>
    </p:spTree>
    <p:extLst>
      <p:ext uri="{BB962C8B-B14F-4D97-AF65-F5344CB8AC3E}">
        <p14:creationId xmlns:p14="http://schemas.microsoft.com/office/powerpoint/2010/main" val="1261699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2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 sz="1400" b="1" smtClean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23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3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3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3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3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3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3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104217</TotalTime>
  <Words>994</Words>
  <Application>Microsoft Office PowerPoint</Application>
  <PresentationFormat>A4 용지(210x297mm)</PresentationFormat>
  <Paragraphs>199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굴림</vt:lpstr>
      <vt:lpstr>맑은 고딕</vt:lpstr>
      <vt:lpstr>Arial</vt:lpstr>
      <vt:lpstr>Tahoma</vt:lpstr>
      <vt:lpstr>Trebuchet MS</vt:lpstr>
      <vt:lpstr>Office 테마</vt:lpstr>
      <vt:lpstr>23_디자인 사용자 지정</vt:lpstr>
      <vt:lpstr>문제 1. 제조/기술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Seohyeon Choi</dc:creator>
  <cp:lastModifiedBy>이주학</cp:lastModifiedBy>
  <cp:revision>2764</cp:revision>
  <cp:lastPrinted>2020-10-14T00:14:30Z</cp:lastPrinted>
  <dcterms:created xsi:type="dcterms:W3CDTF">2012-10-16T23:37:44Z</dcterms:created>
  <dcterms:modified xsi:type="dcterms:W3CDTF">2023-11-02T11:36:19Z</dcterms:modified>
</cp:coreProperties>
</file>